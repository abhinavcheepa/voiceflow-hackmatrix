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koto Glitch 1" charset="1" panose="00000000000000000000"/>
      <p:regular r:id="rId16"/>
    </p:embeddedFont>
    <p:embeddedFont>
      <p:font typeface="Helvetica World" charset="1" panose="020B0500040000020004"/>
      <p:regular r:id="rId17"/>
    </p:embeddedFont>
    <p:embeddedFont>
      <p:font typeface="Norwester" charset="1" panose="00000506000000000000"/>
      <p:regular r:id="rId18"/>
    </p:embeddedFont>
    <p:embeddedFont>
      <p:font typeface="Helvetica World Bold" charset="1" panose="020B08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15294" y="4229584"/>
            <a:ext cx="4573306" cy="241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9"/>
              </a:lnSpc>
            </a:pPr>
            <a:r>
              <a:rPr lang="en-US" sz="6949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HACK</a:t>
            </a:r>
          </a:p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lang="en-US" sz="6949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MATRIX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24345" y="1142405"/>
            <a:ext cx="5290055" cy="119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sz="6900" b="0">
                <a:solidFill>
                  <a:srgbClr val="98C632"/>
                </a:solidFill>
                <a:latin typeface="Times New Roman"/>
              </a:rPr>
              <a:t>VoiceFlow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9595" y="3617019"/>
            <a:ext cx="7096488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Problem Statement: Missed customer calls and manual WhatsApp replies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Domain: AI / Voice Technology / Small Business Automation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Team Voice Flow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Abhinav Cheepa (Team Leader) · Raghav Goyal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abhinavcheepa7@gmail.com · +91 70007 59702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Event: HackMatrix 2026 — Round 2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GitHub: github.com/abhinavcheepa/voiceflow-hackmatrix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Demo video: [add link]   ·   Live deploy: runs locally, self-hosted by design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3126" y="3242639"/>
            <a:ext cx="3336139" cy="2996647"/>
            <a:chOff x="0" y="0"/>
            <a:chExt cx="9048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33126" y="1276584"/>
            <a:ext cx="4985039" cy="119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sz="6900" b="0">
                <a:solidFill>
                  <a:srgbClr val="98C632"/>
                </a:solidFill>
                <a:latin typeface="Times New Roman"/>
              </a:rPr>
              <a:t>The Problem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55614" y="3242639"/>
            <a:ext cx="3336139" cy="2996647"/>
            <a:chOff x="0" y="0"/>
            <a:chExt cx="90488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97153" y="3242639"/>
            <a:ext cx="3336139" cy="2996647"/>
            <a:chOff x="0" y="0"/>
            <a:chExt cx="90488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84831" y="4389120"/>
            <a:ext cx="3044952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Calls go unanswered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After hours, during a rush, or when staff are busy. The customer simply dials a competitor next.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55080" y="4389120"/>
            <a:ext cx="3044952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Hiring does not scale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 clinic or shop cannot staff 24/7 support, however many leads it loses by not doing so.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41864" y="4389120"/>
            <a:ext cx="3044952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WhatsApp is still manual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The channel Indian customers prefer, yet every reply is typed by hand. A slow reply is a lost customer.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33126" y="6675120"/>
            <a:ext cx="10044654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Who is affected?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Small business owners (clinics, salons, shops, coaching centres) → their staff, who answer the same questions all day → customers who give up and go elsewhere.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India has over 63 million MSMEs. Most run on a single phone number and one WhatsApp account.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33126" y="8293800"/>
            <a:ext cx="8229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Every missed call is revenue that walked away.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69229" y="1180505"/>
            <a:ext cx="9106230" cy="90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6"/>
              </a:lnSpc>
              <a:spcBef>
                <a:spcPct val="0"/>
              </a:spcBef>
            </a:pPr>
            <a:r>
              <a:rPr lang="en-US" sz="526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THIS PROBLEM EXISTS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69229" y="2862465"/>
            <a:ext cx="2105086" cy="1890868"/>
            <a:chOff x="0" y="0"/>
            <a:chExt cx="90488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45263" lIns="45263" bIns="45263" rIns="4526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04288" y="3246120"/>
            <a:ext cx="18288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One number,</a:t>
            </a: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one pair of hands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795707" y="2862465"/>
            <a:ext cx="2105086" cy="1890868"/>
            <a:chOff x="0" y="0"/>
            <a:chExt cx="90488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45263" lIns="45263" bIns="45263" rIns="4526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28616" y="3246120"/>
            <a:ext cx="18288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Voice AI is</a:t>
            </a: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English-first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22186" y="2862465"/>
            <a:ext cx="2105086" cy="1890868"/>
            <a:chOff x="0" y="0"/>
            <a:chExt cx="90488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45263" lIns="45263" bIns="45263" rIns="4526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62088" y="3246120"/>
            <a:ext cx="18288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Per-minute</a:t>
            </a: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billing in USD</a:t>
            </a:r>
          </a:p>
        </p:txBody>
      </p:sp>
      <p:sp>
        <p:nvSpPr>
          <p:cNvPr name="TextBox 16" id="16"/>
          <p:cNvSpPr txBox="true"/>
          <p:nvPr/>
        </p:nvSpPr>
        <p:spPr>
          <a:xfrm rot="5400000">
            <a:off x="2330810" y="4965742"/>
            <a:ext cx="661569" cy="101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1"/>
              </a:lnSpc>
              <a:spcBef>
                <a:spcPct val="0"/>
              </a:spcBef>
            </a:pPr>
            <a:r>
              <a:rPr lang="en-US" sz="5986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2304" y="5760720"/>
            <a:ext cx="347472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CORE PROBLEM</a:t>
            </a: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There is nobody to answer when the owner is busy, and no affordable tool that speaks the customer's language.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62472" y="5760720"/>
            <a:ext cx="402336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USER CONSEQUENCE</a:t>
            </a: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The customer waits, repeats themselves, or hangs up. The owner finds out hours later, if at all.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32720" y="5760720"/>
            <a:ext cx="3749039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REAL IMPACT</a:t>
            </a: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Lost bookings, lost trust, and a business that cannot grow past the owner's own working hours.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47882" y="5814601"/>
            <a:ext cx="507006" cy="77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44875" y="5814601"/>
            <a:ext cx="507006" cy="77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34809" y="7406640"/>
            <a:ext cx="1234440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Current approach:</a:t>
            </a:r>
          </a:p>
          <a:p>
            <a:pPr algn="l">
              <a:lnSpc>
                <a:spcPts val="3742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Miss the call → hope for a callback → reply on WhatsApp hours later → the customer has already booked elsewhere.</a:t>
            </a:r>
          </a:p>
          <a:p>
            <a:pPr algn="l">
              <a:lnSpc>
                <a:spcPts val="3742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Existing tools (Vapi, Bland, Retell) have weak Hindi support, bill per minute in USD, and move customer data out of the country.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7174" y="1202869"/>
            <a:ext cx="5162160" cy="92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4"/>
              </a:lnSpc>
              <a:spcBef>
                <a:spcPct val="0"/>
              </a:spcBef>
            </a:pPr>
            <a:r>
              <a:rPr lang="en-US" sz="540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7174" y="2415049"/>
            <a:ext cx="13301588" cy="121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INTRODUCING VOICEFLOW AI</a:t>
            </a:r>
          </a:p>
          <a:p>
            <a:pPr algn="l">
              <a:lnSpc>
                <a:spcPts val="3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VoiceFlow AI lets a small business answer every call and WhatsApp message 24/7, in the customer's own language, using a self-hosted agent that costs nothing per minute.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97174" y="3938258"/>
            <a:ext cx="4212546" cy="402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CUSTOMER</a:t>
            </a:r>
          </a:p>
          <a:p>
            <a:pPr algn="l">
              <a:lnSpc>
                <a:spcPts val="2493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  ↓  calls, or messages on WhatsApp</a:t>
            </a:r>
          </a:p>
          <a:p>
            <a:pPr algn="l">
              <a:lnSpc>
                <a:spcPts val="2493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SPEECH → TEXT</a:t>
            </a:r>
          </a:p>
          <a:p>
            <a:pPr algn="l">
              <a:lnSpc>
                <a:spcPts val="2493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  ↓  Groq Whisper, language auto-detected</a:t>
            </a:r>
          </a:p>
          <a:p>
            <a:pPr algn="l">
              <a:lnSpc>
                <a:spcPts val="2493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AGENT</a:t>
            </a:r>
          </a:p>
          <a:p>
            <a:pPr algn="l">
              <a:lnSpc>
                <a:spcPts val="2493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  ↓  your business facts, your tone</a:t>
            </a:r>
          </a:p>
          <a:p>
            <a:pPr algn="l">
              <a:lnSpc>
                <a:spcPts val="2493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TEXT → SPEECH</a:t>
            </a:r>
          </a:p>
          <a:p>
            <a:pPr algn="l">
              <a:lnSpc>
                <a:spcPts val="2493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  ↓  natural Indian voice</a:t>
            </a:r>
          </a:p>
          <a:p>
            <a:pPr algn="l">
              <a:lnSpc>
                <a:spcPts val="2493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ANSWERED</a:t>
            </a:r>
          </a:p>
          <a:p>
            <a:pPr algn="l">
              <a:lnSpc>
                <a:spcPts val="2493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  ↓  logged to the dashboard</a:t>
            </a:r>
          </a:p>
          <a:p>
            <a:pPr algn="l">
              <a:lnSpc>
                <a:spcPts val="2493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OWNER SEES EVERYTHING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8856" y="3941063"/>
            <a:ext cx="8778240" cy="406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Core capabilities</a:t>
            </a:r>
          </a:p>
          <a:p>
            <a:pPr algn="l">
              <a:lnSpc>
                <a:spcPts val="355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355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01  Answers in the customer's language</a:t>
            </a:r>
          </a:p>
          <a:p>
            <a:pPr algn="l">
              <a:lnSpc>
                <a:spcPts val="355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Hindi, Hinglish, English, Marathi, Tamil — detected automatically, answered in the same language.</a:t>
            </a:r>
          </a:p>
          <a:p>
            <a:pPr algn="l">
              <a:lnSpc>
                <a:spcPts val="355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355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02  Same agent on voice and WhatsApp</a:t>
            </a:r>
          </a:p>
          <a:p>
            <a:pPr algn="l">
              <a:lnSpc>
                <a:spcPts val="355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 voice note gets a voice note back. Text gets text, in the owner's writing style.</a:t>
            </a:r>
          </a:p>
          <a:p>
            <a:pPr algn="l">
              <a:lnSpc>
                <a:spcPts val="355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355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03  Self-hosted, no per-minute billing</a:t>
            </a:r>
          </a:p>
          <a:p>
            <a:pPr algn="l">
              <a:lnSpc>
                <a:spcPts val="355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Runs on the business's own machine. Customer data never leaves it.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97174" y="8119395"/>
            <a:ext cx="10798120" cy="88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Measured on a real run: 4.2 seconds from the customer finishing a sentence to hearing the reply.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79700" y="1202869"/>
            <a:ext cx="12266306" cy="9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3"/>
              </a:lnSpc>
              <a:spcBef>
                <a:spcPct val="0"/>
              </a:spcBef>
            </a:pPr>
            <a:r>
              <a:rPr lang="en-US" sz="5316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PROTOTYPE / PRODUCT EXPERIENCE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1983" y="2834831"/>
            <a:ext cx="51206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Dashboard — calls, WhatsApp, contacts in one place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1983" y="5086350"/>
            <a:ext cx="51206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Web call — talking to the agent live in the browser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31736" y="2788920"/>
            <a:ext cx="4937760" cy="429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User journey</a:t>
            </a:r>
          </a:p>
          <a:p>
            <a:pPr algn="l">
              <a:lnSpc>
                <a:spcPts val="2757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01 — INPUT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Customer calls or messages.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↓</a:t>
            </a:r>
          </a:p>
          <a:p>
            <a:pPr algn="l">
              <a:lnSpc>
                <a:spcPts val="2757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02 — UNDERSTAND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Speech to text, language detected.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↓</a:t>
            </a:r>
          </a:p>
          <a:p>
            <a:pPr algn="l">
              <a:lnSpc>
                <a:spcPts val="2757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03 — ANSWER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Agent replies using your facts.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↓</a:t>
            </a:r>
          </a:p>
          <a:p>
            <a:pPr algn="l">
              <a:lnSpc>
                <a:spcPts val="2757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04 — SPEAK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Spoken back, or a voice note.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↓</a:t>
            </a:r>
          </a:p>
          <a:p>
            <a:pPr algn="l">
              <a:lnSpc>
                <a:spcPts val="2757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05 — LOG</a:t>
            </a:r>
          </a:p>
          <a:p>
            <a:pPr algn="l">
              <a:lnSpc>
                <a:spcPts val="2757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Lands in the dashboard.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983" y="7304509"/>
            <a:ext cx="14934771" cy="195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What is running today, not a mockup</a:t>
            </a:r>
          </a:p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Web call and WhatsApp both run the full pipeline end to end. The screenshots above are the live product, with real conversations.</a:t>
            </a:r>
          </a:p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Every number in this deck was measured on an actual run — nothing is estimated.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2463" y="1208530"/>
            <a:ext cx="10420542" cy="9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  <a:spcBef>
                <a:spcPct val="0"/>
              </a:spcBef>
            </a:pPr>
            <a:r>
              <a:rPr lang="en-US" sz="5638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MAKES US DIFFERENT?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2463" y="2722492"/>
            <a:ext cx="42217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WHY THIS APPROACH?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92463" y="3564837"/>
            <a:ext cx="11887200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                                   Existing tools        VoiceFlow AI</a:t>
            </a:r>
          </a:p>
          <a:p>
            <a:pPr algn="l">
              <a:lnSpc>
                <a:spcPts val="33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33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Hindi / Indian accent          Weak                  Built for it</a:t>
            </a:r>
          </a:p>
          <a:p>
            <a:pPr algn="l">
              <a:lnSpc>
                <a:spcPts val="33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Billing                              Per minute, USD    ₹0 per minute</a:t>
            </a:r>
          </a:p>
          <a:p>
            <a:pPr algn="l">
              <a:lnSpc>
                <a:spcPts val="33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Where customer data sits    Vendor's cloud       Your own machine</a:t>
            </a:r>
          </a:p>
          <a:p>
            <a:pPr algn="l">
              <a:lnSpc>
                <a:spcPts val="33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WhatsApp voice notes         Not supported       Replies with a voice note</a:t>
            </a:r>
          </a:p>
          <a:p>
            <a:pPr algn="l">
              <a:lnSpc>
                <a:spcPts val="33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Business facts                   Generic prompt      Your prices and timings</a:t>
            </a:r>
          </a:p>
          <a:p>
            <a:pPr algn="l">
              <a:lnSpc>
                <a:spcPts val="33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Setup for a small shop        Sales call, KYC      Runs on a laptop today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92463" y="8275320"/>
            <a:ext cx="1325880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Our differentiator is not that we use AI. Everyone uses AI.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It is that the whole thing is self-hosted, speaks Indian languages properly, and costs a small business nothing per call.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The agent is also told what it does not know, so it says "I will confirm and call back" instead of inventing a price or a free slot.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8075" y="2869187"/>
            <a:ext cx="6301225" cy="6301225"/>
          </a:xfrm>
          <a:custGeom>
            <a:avLst/>
            <a:gdLst/>
            <a:ahLst/>
            <a:cxnLst/>
            <a:rect r="r" b="b" t="t" l="l"/>
            <a:pathLst>
              <a:path h="6301225" w="6301225">
                <a:moveTo>
                  <a:pt x="0" y="0"/>
                </a:moveTo>
                <a:lnTo>
                  <a:pt x="6301225" y="0"/>
                </a:lnTo>
                <a:lnTo>
                  <a:pt x="6301225" y="6301226"/>
                </a:lnTo>
                <a:lnTo>
                  <a:pt x="0" y="630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62574" y="1177192"/>
            <a:ext cx="8701057" cy="8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  <a:spcBef>
                <a:spcPct val="0"/>
              </a:spcBef>
            </a:pPr>
            <a:r>
              <a:rPr lang="en-US" sz="5044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TECHNICAL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2574" y="2314575"/>
            <a:ext cx="8412480" cy="612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Tech stack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Frontend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React 19, Vite, Tailwind CSS v4</a:t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Backend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FastAPI (Python), WebSockets for live calls</a:t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Database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SQLite — self-contained, no server to run</a:t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Speech to text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Groq Whisper large-v3-turbo (1.3s), local faster-whisper as fallback</a:t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Language model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Groq Llama 3.3 70B — replies in about 1 second</a:t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Text to speech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Cartesia Sonic — 55 voices, 6 Hindi, 5 Tamil, 3 Telugu</a:t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WhatsApp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Local bridge (WhatsApp Web) or Meta Cloud API — one setting switches them</a:t>
            </a:r>
          </a:p>
          <a:p>
            <a:pPr algn="l">
              <a:lnSpc>
                <a:spcPts val="3798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Telephony</a:t>
            </a:r>
          </a:p>
          <a:p>
            <a:pPr algn="l">
              <a:lnSpc>
                <a:spcPts val="3798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Asterisk PBX, self-hosted; your own SIM over a Bluetooth GSM gateway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2574" y="8617963"/>
            <a:ext cx="709648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Every external service is owned by exactly one file,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so swapping a provider is one file's worth of work — not a rewrite.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21440" y="2011680"/>
            <a:ext cx="576072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Customer → Channel → Backend → AI → Reply → Dashboard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9598" y="1326051"/>
            <a:ext cx="7426245" cy="94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1"/>
              </a:lnSpc>
              <a:spcBef>
                <a:spcPct val="0"/>
              </a:spcBef>
            </a:pPr>
            <a:r>
              <a:rPr lang="en-US" sz="55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FEASIBILITY + 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71575" y="2708910"/>
            <a:ext cx="2313817" cy="55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98C6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FEASIBILITY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7153270" y="2766060"/>
            <a:ext cx="0" cy="6492240"/>
          </a:xfrm>
          <a:prstGeom prst="line">
            <a:avLst/>
          </a:prstGeom>
          <a:ln cap="rnd" w="38100">
            <a:solidFill>
              <a:srgbClr val="98C6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035582" y="2708910"/>
            <a:ext cx="1406886" cy="55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98C6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001" y="3661410"/>
            <a:ext cx="6037984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Technical — already working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Browser calls, WhatsApp auto-reply, multi-agent personas, CRM, analytics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4.2s per conversational turn, measured end to end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Automated tests covering language detection and speech filtering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ctr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Operational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Runs on one ordinary laptop. No cloud bill.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Free tiers cover the AI; incoming calls are free in India.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ctr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Hackathon MVP — what we will demonstrate live</a:t>
            </a:r>
          </a:p>
          <a:p>
            <a:pPr algn="ctr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 real conversation in Hindi through the browser, and a WhatsApp message answered automatically, both on stage.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5582" y="3661410"/>
            <a:ext cx="5539112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Who benefits?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Clinics, salons, shops and coaching centres — anyone losing calls while working.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What improves?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Every call is answered instead of missed. WhatsApp replies land in seconds, not hours.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Why does it matter?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 missed call is a customer who has already dialled somebody else. This gives a one-person business the reach of a staffed front desk.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Prototype → MVP → Pilot → Scale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339956" y="5143500"/>
            <a:ext cx="902852" cy="0"/>
          </a:xfrm>
          <a:prstGeom prst="line">
            <a:avLst/>
          </a:prstGeom>
          <a:ln cap="rnd" w="57150">
            <a:solidFill>
              <a:srgbClr val="98C63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" id="4"/>
          <p:cNvSpPr txBox="true"/>
          <p:nvPr/>
        </p:nvSpPr>
        <p:spPr>
          <a:xfrm rot="0">
            <a:off x="6800732" y="3505200"/>
            <a:ext cx="3676171" cy="31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NEXT — in progress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Live audio on phone calls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(Asterisk answers and logs today)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Barge-in: interrupt the agent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Voice cloning — the owner's own voice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0754" y="3505200"/>
            <a:ext cx="3676171" cy="31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LATER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Pilot with real shops in Indore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Appointment calendar integration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Dashboard login and roles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Hosted option for non-technical owners</a:t>
            </a:r>
          </a:p>
        </p:txBody>
      </p:sp>
      <p:sp>
        <p:nvSpPr>
          <p:cNvPr name="AutoShape 6" id="6"/>
          <p:cNvSpPr/>
          <p:nvPr/>
        </p:nvSpPr>
        <p:spPr>
          <a:xfrm>
            <a:off x="9574051" y="5114925"/>
            <a:ext cx="902852" cy="0"/>
          </a:xfrm>
          <a:prstGeom prst="line">
            <a:avLst/>
          </a:prstGeom>
          <a:ln cap="rnd" w="57150">
            <a:solidFill>
              <a:srgbClr val="98C63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4025732" y="4800159"/>
            <a:ext cx="902385" cy="29031"/>
          </a:xfrm>
          <a:prstGeom prst="line">
            <a:avLst/>
          </a:prstGeom>
          <a:ln cap="rnd" w="57150">
            <a:solidFill>
              <a:srgbClr val="98C63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14800775" y="331470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80B0E">
                <a:alpha val="5686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00628" y="1238545"/>
            <a:ext cx="9114634" cy="87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4"/>
              </a:lnSpc>
              <a:spcBef>
                <a:spcPct val="0"/>
              </a:spcBef>
            </a:pPr>
            <a:r>
              <a:rPr lang="en-US" sz="516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IMPLEMENTATION ROADMAP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6914" y="3505200"/>
            <a:ext cx="3676171" cy="31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NOW — built and working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Browser voice calls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WhatsApp auto-reply, text and voice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Multiple agent personas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Contacts, campaigns,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0628" y="2609464"/>
            <a:ext cx="430010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WHAT HAPPENS NEXT?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18920" y="3505200"/>
            <a:ext cx="356616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SCALE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More Indian languages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Multiple businesses per install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Payments and order taking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Reseller model for local IT shops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5024" y="6903720"/>
            <a:ext cx="1271016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Already built vs planned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We are deliberately explicit about this. Everything under NOW runs today and can be demonstrated.</a:t>
            </a:r>
          </a:p>
          <a:p>
            <a:pPr algn="l">
              <a:lnSpc>
                <a:spcPts val="4200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Phone-call audio is honestly marked as in progress — Asterisk answers and logs the call, but streaming the audio through the AI is not finished.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0628" y="3425600"/>
            <a:ext cx="7082529" cy="4495201"/>
          </a:xfrm>
          <a:custGeom>
            <a:avLst/>
            <a:gdLst/>
            <a:ahLst/>
            <a:cxnLst/>
            <a:rect r="r" b="b" t="t" l="l"/>
            <a:pathLst>
              <a:path h="4495201" w="7082529">
                <a:moveTo>
                  <a:pt x="0" y="0"/>
                </a:moveTo>
                <a:lnTo>
                  <a:pt x="7082528" y="0"/>
                </a:lnTo>
                <a:lnTo>
                  <a:pt x="7082528" y="4495201"/>
                </a:lnTo>
                <a:lnTo>
                  <a:pt x="0" y="4495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0628" y="1238545"/>
            <a:ext cx="6308744" cy="87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4"/>
              </a:lnSpc>
              <a:spcBef>
                <a:spcPct val="0"/>
              </a:spcBef>
            </a:pPr>
            <a:r>
              <a:rPr lang="en-US" sz="516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 + EXECUTION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49840" y="3429000"/>
            <a:ext cx="6400800" cy="448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Team Voice Flow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Abhinav Cheepa — Team Leader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Backend, AI pipeline, telephony integration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abhinavcheepa7@gmail.com · +91 70007 59702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/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Raghav Goyal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Frontend, dashboard, testing and QA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628" y="8412480"/>
            <a:ext cx="137160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sz="1800" b="1">
                <a:solidFill>
                  <a:srgbClr val="98C632"/>
                </a:solidFill>
                <a:latin typeface="Times New Roman"/>
              </a:rPr>
              <a:t>Why this team can execute</a:t>
            </a:r>
          </a:p>
          <a:p>
            <a:pPr algn="l">
              <a:lnSpc>
                <a:spcPts val="4381"/>
              </a:lnSpc>
            </a:pPr>
            <a:r>
              <a:rPr sz="1800" b="0">
                <a:solidFill>
                  <a:srgbClr val="98C632"/>
                </a:solidFill>
                <a:latin typeface="Times New Roman"/>
              </a:rPr>
              <a:t>We have already built and measured the hard part — a working speech-to-reply loop in Indian languages — instead of describing one. What remains is telephony plumbing, and the plan for it is written, costed and in the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DAHRvWOOywY</dc:identifier>
  <dcterms:modified xsi:type="dcterms:W3CDTF">2011-08-01T06:04:30Z</dcterms:modified>
  <cp:revision>1</cp:revision>
  <dc:title>HACK MATRIX</dc:title>
</cp:coreProperties>
</file>