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gradFill rotWithShape="1">
            <a:gsLst>
              <a:gs pos="0">
                <a:srgbClr val="16112C"/>
              </a:gs>
              <a:gs pos="100000">
                <a:srgbClr val="07070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1170432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spc="220">
                <a:solidFill>
                  <a:srgbClr val="2EE6A8"/>
                </a:solidFill>
                <a:latin typeface="Segoe UI"/>
              </a:rPr>
              <a:t>HACKMATRIX 2026  ·  ROUND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1481328"/>
            <a:ext cx="86868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EDEDF2"/>
                </a:solidFill>
                <a:latin typeface="Segoe UI"/>
              </a:rPr>
              <a:t>VoiceFlow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48716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0">
                <a:solidFill>
                  <a:srgbClr val="A48BFF"/>
                </a:solidFill>
                <a:latin typeface="Segoe UI"/>
              </a:rPr>
              <a:t>Your voice. Your accent. Answering every customer.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3035808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Aft>
                <a:spcPts val="0"/>
              </a:spcAft>
            </a:pPr>
            <a:r>
              <a:rPr sz="1250" b="0">
                <a:solidFill>
                  <a:srgbClr val="8E8EA8"/>
                </a:solidFill>
                <a:latin typeface="Segoe UI"/>
              </a:rPr>
              <a:t>An AI receptionist for Indian small businesses. It answers WhatsApp messages and browser voice calls 24/7 today — phone lines are next — in whatever language the customer speaks, and logs every conversation into one dashboard.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8" y="4160520"/>
            <a:ext cx="3475634" cy="1005840"/>
          </a:xfrm>
          <a:prstGeom prst="roundRect">
            <a:avLst>
              <a:gd name="adj" fmla="val 9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1" y="4343400"/>
            <a:ext cx="301843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2EE6A8"/>
                </a:solidFill>
                <a:latin typeface="Segoe UI"/>
              </a:rPr>
              <a:t>~4s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4837176"/>
            <a:ext cx="301843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per conversational turn, measured end to 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72330" y="4160520"/>
            <a:ext cx="3475634" cy="1005840"/>
          </a:xfrm>
          <a:prstGeom prst="roundRect">
            <a:avLst>
              <a:gd name="adj" fmla="val 9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0074" y="4343400"/>
            <a:ext cx="301843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A48BFF"/>
                </a:solidFill>
                <a:latin typeface="Segoe U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0074" y="4837176"/>
            <a:ext cx="301843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Indian languages, 21 voices, zero API keys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49132" y="4160520"/>
            <a:ext cx="3475634" cy="1005840"/>
          </a:xfrm>
          <a:prstGeom prst="roundRect">
            <a:avLst>
              <a:gd name="adj" fmla="val 9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86876" y="4343400"/>
            <a:ext cx="301843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8A3D"/>
                </a:solidFill>
                <a:latin typeface="Segoe UI"/>
              </a:rPr>
              <a:t>₹999+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6876" y="4837176"/>
            <a:ext cx="301843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flat per month — not ₹10–26 a minute like others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8" y="5577840"/>
            <a:ext cx="10829239" cy="10972"/>
          </a:xfrm>
          <a:prstGeom prst="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8" y="5760720"/>
            <a:ext cx="6766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50" b="1">
                <a:solidFill>
                  <a:srgbClr val="EDEDF2"/>
                </a:solidFill>
                <a:latin typeface="Segoe UI"/>
              </a:rPr>
              <a:t>Team Voice Flow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Abhinav Cheepa (Team Leader)  ·  Raghav Goyal</a:t>
            </a:r>
          </a:p>
          <a:p>
            <a:pPr algn="l">
              <a:spcAft>
                <a:spcPts val="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abhinavcheepa7@gmail.com  ·  +91 70007 59702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18527" y="5760720"/>
            <a:ext cx="42062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300"/>
              </a:spcAft>
            </a:pPr>
            <a:r>
              <a:rPr sz="900" b="1" spc="140">
                <a:solidFill>
                  <a:srgbClr val="5A5A72"/>
                </a:solidFill>
                <a:latin typeface="Segoe UI"/>
              </a:rPr>
              <a:t>Problem statement</a:t>
            </a:r>
          </a:p>
          <a:p>
            <a:pPr algn="r">
              <a:spcAft>
                <a:spcPts val="20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Missed customer calls and manual WhatsApp replies</a:t>
            </a:r>
          </a:p>
          <a:p>
            <a:pPr algn="r">
              <a:spcAft>
                <a:spcPts val="0"/>
              </a:spcAft>
            </a:pPr>
            <a:r>
              <a:rPr sz="950" b="0">
                <a:solidFill>
                  <a:srgbClr val="5A5A72"/>
                </a:solidFill>
                <a:latin typeface="Segoe UI"/>
              </a:rPr>
              <a:t>Domain: AI  ·  Voice Technology  ·  SMB Automation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gradFill rotWithShape="1">
            <a:gsLst>
              <a:gs pos="0">
                <a:srgbClr val="16112C"/>
              </a:gs>
              <a:gs pos="100000">
                <a:srgbClr val="07070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90">
                <a:solidFill>
                  <a:srgbClr val="2EE6A8"/>
                </a:solidFill>
                <a:latin typeface="Segoe U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DEDF2"/>
                </a:solidFill>
                <a:latin typeface="Segoe UI"/>
              </a:rPr>
              <a:t>The phone rings. Nobody is free to pick it up.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884627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8E8EA8"/>
                </a:solidFill>
                <a:latin typeface="Segoe UI"/>
              </a:rPr>
              <a:t>For a clinic, salon, shop or coaching centre the phone and WhatsApp are not support channels — they are the entire sales channel. Both depend on one person being free at that exact moment.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47088"/>
            <a:ext cx="960120" cy="27432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121408"/>
            <a:ext cx="3551834" cy="932688"/>
          </a:xfrm>
          <a:prstGeom prst="roundRect">
            <a:avLst>
              <a:gd name="adj" fmla="val 9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304288"/>
            <a:ext cx="309463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5C7A"/>
                </a:solidFill>
                <a:latin typeface="Segoe UI"/>
              </a:rPr>
              <a:t>62%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2798063"/>
            <a:ext cx="309463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of calls to small businesses go unanswered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9930" y="2121408"/>
            <a:ext cx="3551834" cy="932688"/>
          </a:xfrm>
          <a:prstGeom prst="roundRect">
            <a:avLst>
              <a:gd name="adj" fmla="val 9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57674" y="2304288"/>
            <a:ext cx="309463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FF8A3D"/>
                </a:solidFill>
                <a:latin typeface="Segoe UI"/>
              </a:rPr>
              <a:t>85%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57674" y="2798063"/>
            <a:ext cx="309463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of missed callers never call 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2932" y="2121408"/>
            <a:ext cx="3551834" cy="932688"/>
          </a:xfrm>
          <a:prstGeom prst="roundRect">
            <a:avLst>
              <a:gd name="adj" fmla="val 9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0676" y="2304288"/>
            <a:ext cx="309463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2EE6A8"/>
                </a:solidFill>
                <a:latin typeface="Segoe UI"/>
              </a:rPr>
              <a:t>78%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0676" y="2798063"/>
            <a:ext cx="3094634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buy from whoever answers first  (MIT / InsideSales)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273552"/>
            <a:ext cx="3551834" cy="1755648"/>
          </a:xfrm>
          <a:prstGeom prst="roundRect">
            <a:avLst>
              <a:gd name="adj" fmla="val 55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7842" y="3547872"/>
            <a:ext cx="41148" cy="1207007"/>
          </a:xfrm>
          <a:prstGeom prst="rect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3511296"/>
            <a:ext cx="29849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EDEDF2"/>
                </a:solidFill>
                <a:latin typeface="Segoe UI"/>
              </a:rPr>
              <a:t>Calls go unanswered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3822191"/>
            <a:ext cx="2984906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After hours, mid-rush, or hands full with the customer already in the shop. The caller does not wait — they dial the next name on the list.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19930" y="3273552"/>
            <a:ext cx="3551834" cy="1755648"/>
          </a:xfrm>
          <a:prstGeom prst="roundRect">
            <a:avLst>
              <a:gd name="adj" fmla="val 55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20844" y="3547872"/>
            <a:ext cx="41148" cy="1207007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30826" y="3511296"/>
            <a:ext cx="29849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EDEDF2"/>
                </a:solidFill>
                <a:latin typeface="Segoe UI"/>
              </a:rPr>
              <a:t>WhatsApp is still typed by hand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30826" y="3822191"/>
            <a:ext cx="2984906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The channel Indian customers actually use — 91% of online adults message a business every week — answered manually, one thumb at a time, hours late.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72932" y="3273552"/>
            <a:ext cx="3551834" cy="1755648"/>
          </a:xfrm>
          <a:prstGeom prst="roundRect">
            <a:avLst>
              <a:gd name="adj" fmla="val 55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73847" y="3547872"/>
            <a:ext cx="41148" cy="1207007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83828" y="3511296"/>
            <a:ext cx="29849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EDEDF2"/>
                </a:solidFill>
                <a:latin typeface="Segoe UI"/>
              </a:rPr>
              <a:t>Hiring does not scale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83828" y="3822191"/>
            <a:ext cx="2984906" cy="10149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A three-person clinic cannot staff a 24/7 front desk, however many bookings it loses by not doing so. Salary is fixed; calls are not.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212080"/>
            <a:ext cx="11057839" cy="621792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5340096"/>
            <a:ext cx="41148" cy="365760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" y="5212080"/>
            <a:ext cx="10417759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DEDF2"/>
                </a:solidFill>
                <a:latin typeface="Segoe UI"/>
              </a:rPr>
              <a:t>Every missed call is revenue that has already walked to a competitor — and the owner finds out hours later, if at all.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VoiceFlow AI  ·  Team Voice Flow  ·  HackMatrix 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27487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144768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Call-answer and callback figures: 2026 industry surveys of SMB phone traffic. First-responder figure: MIT / InsideSales lead-response study.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gradFill rotWithShape="1">
            <a:gsLst>
              <a:gs pos="0">
                <a:srgbClr val="16112C"/>
              </a:gs>
              <a:gs pos="100000">
                <a:srgbClr val="07070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90">
                <a:solidFill>
                  <a:srgbClr val="2EE6A8"/>
                </a:solidFill>
                <a:latin typeface="Segoe UI"/>
              </a:rPr>
              <a:t>WHY THIS PROBLEM EXISTS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DEDF2"/>
                </a:solidFill>
                <a:latin typeface="Segoe UI"/>
              </a:rPr>
              <a:t>Three reasons it is still unsolved in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884627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8E8EA8"/>
                </a:solidFill>
                <a:latin typeface="Segoe UI"/>
              </a:rPr>
              <a:t>AI receptionists exist. None of them fit a business that runs on one number, one WhatsApp and a ₹200 ticket.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960120" cy="27432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975104"/>
            <a:ext cx="3551834" cy="2103120"/>
          </a:xfrm>
          <a:prstGeom prst="roundRect">
            <a:avLst>
              <a:gd name="adj" fmla="val 55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7842" y="2249424"/>
            <a:ext cx="41148" cy="1554479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212848"/>
            <a:ext cx="29849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spc="140">
                <a:solidFill>
                  <a:srgbClr val="7C5CFF"/>
                </a:solidFill>
                <a:latin typeface="Segoe UI"/>
              </a:rPr>
              <a:t>CAUSE 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468880"/>
            <a:ext cx="29849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EDEDF2"/>
                </a:solidFill>
                <a:latin typeface="Segoe UI"/>
              </a:rPr>
              <a:t>One number, one pair of hands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779776"/>
            <a:ext cx="2984906" cy="11064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The owner is the receptionist. Every minute spent with the customer in front of them is a minute the phone goes unanswered. There is no second line and no night shift.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19930" y="1975104"/>
            <a:ext cx="3551834" cy="2103120"/>
          </a:xfrm>
          <a:prstGeom prst="roundRect">
            <a:avLst>
              <a:gd name="adj" fmla="val 55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0844" y="2249424"/>
            <a:ext cx="41148" cy="1554479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30826" y="2212848"/>
            <a:ext cx="29849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spc="140">
                <a:solidFill>
                  <a:srgbClr val="FF8A3D"/>
                </a:solidFill>
                <a:latin typeface="Segoe UI"/>
              </a:rPr>
              <a:t>CAUSE 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0826" y="2468880"/>
            <a:ext cx="29849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EDEDF2"/>
                </a:solidFill>
                <a:latin typeface="Segoe UI"/>
              </a:rPr>
              <a:t>Voice AI is English-first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0826" y="2779776"/>
            <a:ext cx="2984906" cy="11064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Hindi, Hinglish and code-mixed speech break assistants tuned for US English. The customer repeats themselves twice, then hangs up and calls a human.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72932" y="1975104"/>
            <a:ext cx="3551834" cy="2103120"/>
          </a:xfrm>
          <a:prstGeom prst="roundRect">
            <a:avLst>
              <a:gd name="adj" fmla="val 55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73847" y="2249424"/>
            <a:ext cx="41148" cy="1554479"/>
          </a:xfrm>
          <a:prstGeom prst="rect">
            <a:avLst/>
          </a:prstGeom>
          <a:solidFill>
            <a:srgbClr val="FF5C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83828" y="2212848"/>
            <a:ext cx="29849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spc="140">
                <a:solidFill>
                  <a:srgbClr val="FF5C7A"/>
                </a:solidFill>
                <a:latin typeface="Segoe UI"/>
              </a:rPr>
              <a:t>CAUSE 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3828" y="2468880"/>
            <a:ext cx="29849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EDEDF2"/>
                </a:solidFill>
                <a:latin typeface="Segoe UI"/>
              </a:rPr>
              <a:t>Billing is per-minute, in USD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83828" y="2779776"/>
            <a:ext cx="2984906" cy="110642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$0.11–$0.30 a minute all-in on Vapi, Retell or Bland — roughly ₹10–₹26 — plus KYC, a sales call, and customer data sitting in a foreign cloud.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279392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60">
                <a:solidFill>
                  <a:srgbClr val="5A5A72"/>
                </a:solidFill>
                <a:latin typeface="Segoe UI"/>
              </a:rPr>
              <a:t>WHAT A SHOP DOES TODAY INSTEAD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72000"/>
            <a:ext cx="2627299" cy="530352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248099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Miss the call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94227" y="470916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77107" y="4572000"/>
            <a:ext cx="2627299" cy="530352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0259" y="4572000"/>
            <a:ext cx="248099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Hope for a callback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04407" y="470916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›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87287" y="4572000"/>
            <a:ext cx="2627299" cy="530352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0439" y="4572000"/>
            <a:ext cx="248099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Reply on WhatsApp hours later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14587" y="470916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997467" y="4572000"/>
            <a:ext cx="2627299" cy="530352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70619" y="4572000"/>
            <a:ext cx="2480995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Customer has already booked elsewhere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358383"/>
            <a:ext cx="11057839" cy="640080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5495544"/>
            <a:ext cx="41148" cy="365760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7824" y="5358383"/>
            <a:ext cx="10417759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EDEDF2"/>
                </a:solidFill>
                <a:latin typeface="Segoe UI"/>
              </a:rPr>
              <a:t>CORE PROBLEM   There is nobody to answer when the owner is busy — and no affordable tool that speaks the customer's language.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VoiceFlow AI  ·  Team Voice Flow  ·  HackMatrix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27487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03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144768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Competitor pricing: published 2026 all-in per-minute rates for Vapi, Retell and Bland, converted at ~₹88/USD.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gradFill rotWithShape="1">
            <a:gsLst>
              <a:gs pos="0">
                <a:srgbClr val="16112C"/>
              </a:gs>
              <a:gs pos="100000">
                <a:srgbClr val="07070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90">
                <a:solidFill>
                  <a:srgbClr val="2EE6A8"/>
                </a:solidFill>
                <a:latin typeface="Segoe UI"/>
              </a:rPr>
              <a:t>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DEDF2"/>
                </a:solidFill>
                <a:latin typeface="Segoe UI"/>
              </a:rPr>
              <a:t>Who this is for — and how many of them there 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884627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8E8EA8"/>
                </a:solidFill>
                <a:latin typeface="Segoe UI"/>
              </a:rPr>
              <a:t>Not "the AI market". A specific, countable set of businesses whose revenue arrives through a phone and a WhatsApp number.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47088"/>
            <a:ext cx="960120" cy="27432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121408"/>
            <a:ext cx="6634703" cy="1078992"/>
          </a:xfrm>
          <a:prstGeom prst="roundRect">
            <a:avLst>
              <a:gd name="adj" fmla="val 7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322576"/>
            <a:ext cx="41148" cy="676656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304288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spc="150">
                <a:solidFill>
                  <a:srgbClr val="7C5CFF"/>
                </a:solidFill>
                <a:latin typeface="Segoe UI"/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523744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EDEDF2"/>
                </a:solidFill>
                <a:latin typeface="Segoe UI"/>
              </a:rPr>
              <a:t>7.9 crore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2340863"/>
            <a:ext cx="36629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DEDF2"/>
                </a:solidFill>
                <a:latin typeface="Segoe UI"/>
              </a:rPr>
              <a:t>MSMEs registered on India's Udyam portal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2651760"/>
            <a:ext cx="366290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98.9% are micro enterprises — run by the owner, with no back office and no support team.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346704"/>
            <a:ext cx="6634703" cy="1078992"/>
          </a:xfrm>
          <a:prstGeom prst="roundRect">
            <a:avLst>
              <a:gd name="adj" fmla="val 7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547872"/>
            <a:ext cx="41148" cy="676656"/>
          </a:xfrm>
          <a:prstGeom prst="rect">
            <a:avLst/>
          </a:prstGeom>
          <a:solidFill>
            <a:srgbClr val="A4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529584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spc="150">
                <a:solidFill>
                  <a:srgbClr val="A48BFF"/>
                </a:solidFill>
                <a:latin typeface="Segoe UI"/>
              </a:rPr>
              <a:t>SAM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749040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EDEDF2"/>
                </a:solidFill>
                <a:latin typeface="Segoe UI"/>
              </a:rPr>
              <a:t>1.5 crore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72968" y="3566160"/>
            <a:ext cx="36629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DEDF2"/>
                </a:solidFill>
                <a:latin typeface="Segoe UI"/>
              </a:rPr>
              <a:t>Indian businesses already on WhatsApp Business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72968" y="3877056"/>
            <a:ext cx="366290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The largest concentration on earth. They have already proven they want the channel; they just answer it by hand.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572000"/>
            <a:ext cx="6634703" cy="1078992"/>
          </a:xfrm>
          <a:prstGeom prst="roundRect">
            <a:avLst>
              <a:gd name="adj" fmla="val 7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773168"/>
            <a:ext cx="41148" cy="676656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7824" y="4754880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 spc="150">
                <a:solidFill>
                  <a:srgbClr val="2EE6A8"/>
                </a:solidFill>
                <a:latin typeface="Segoe UI"/>
              </a:rPr>
              <a:t>BEACHHEAD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" y="4974336"/>
            <a:ext cx="21488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EDEDF2"/>
                </a:solidFill>
                <a:latin typeface="Segoe UI"/>
              </a:rPr>
              <a:t>500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72968" y="4791456"/>
            <a:ext cx="366290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EDEDF2"/>
                </a:solidFill>
                <a:latin typeface="Segoe UI"/>
              </a:rPr>
              <a:t>phone-first shops in Indore &amp; MP, year 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72968" y="5102352"/>
            <a:ext cx="3662903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Clinics, salons and coaching centres, reached through local IT resellers who already install their billing software.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75951" y="2121408"/>
            <a:ext cx="4148815" cy="3712463"/>
          </a:xfrm>
          <a:prstGeom prst="roundRect">
            <a:avLst>
              <a:gd name="adj" fmla="val 45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86847" y="2395727"/>
            <a:ext cx="35270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60">
                <a:solidFill>
                  <a:srgbClr val="2EE6A8"/>
                </a:solidFill>
                <a:latin typeface="Segoe UI"/>
              </a:rPr>
              <a:t>WHY NOW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86847" y="2779776"/>
            <a:ext cx="35270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A48BFF"/>
                </a:solidFill>
                <a:latin typeface="Segoe UI"/>
              </a:rPr>
              <a:t>535 million+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86847" y="3090672"/>
            <a:ext cx="35270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WhatsApp users in India — the largest single-country base anywhere in the world.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86847" y="3840480"/>
            <a:ext cx="35270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A48BFF"/>
                </a:solidFill>
                <a:latin typeface="Segoe UI"/>
              </a:rPr>
              <a:t>91%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86847" y="4151376"/>
            <a:ext cx="35270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of online Indian adults message a business every single week.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86847" y="4901184"/>
            <a:ext cx="35270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A48BFF"/>
                </a:solidFill>
                <a:latin typeface="Segoe UI"/>
              </a:rPr>
              <a:t>₹20 → ₹0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86847" y="5212080"/>
            <a:ext cx="35270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Open models and free neural TTS collapsed the cost of one AI conversation to nothing. The infrastructure a shop needs became free in the last 18 months.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VoiceFlow AI  ·  Team Voice Flow  ·  HackMatrix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7487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04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144768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Sources: IBEF / Udyam registration data (March 2026)  ·  Meta and DataReportal India figures (2025–26)  ·  beachhead number is our own year-one target, not a market estimate.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gradFill rotWithShape="1">
            <a:gsLst>
              <a:gs pos="0">
                <a:srgbClr val="16112C"/>
              </a:gs>
              <a:gs pos="100000">
                <a:srgbClr val="07070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90">
                <a:solidFill>
                  <a:srgbClr val="2EE6A8"/>
                </a:solidFill>
                <a:latin typeface="Segoe UI"/>
              </a:rP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DEDF2"/>
                </a:solidFill>
                <a:latin typeface="Segoe UI"/>
              </a:rPr>
              <a:t>One agent. Every channel. The customer's own language.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960120" cy="27432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11057839" cy="713232"/>
          </a:xfrm>
          <a:prstGeom prst="roundRect">
            <a:avLst>
              <a:gd name="adj" fmla="val 9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682496"/>
            <a:ext cx="41148" cy="384048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517904"/>
            <a:ext cx="10417759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EDEDF2"/>
                </a:solidFill>
                <a:latin typeface="Segoe UI"/>
              </a:rPr>
              <a:t>VoiceFlow AI answers every WhatsApp message and voice conversation 24/7 — in Hindi, Hinglish, English, Marathi or Tamil — with zero marginal cost per conversation.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450592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60">
                <a:solidFill>
                  <a:srgbClr val="5A5A72"/>
                </a:solidFill>
                <a:latin typeface="Segoe UI"/>
              </a:rPr>
              <a:t>ONE PIPELINE, WHICHEVER WAY THE CUSTOMER ARRIVES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743200"/>
            <a:ext cx="1690573" cy="658368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862072"/>
            <a:ext cx="15442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DEDF2"/>
                </a:solidFill>
                <a:latin typeface="Segoe UI"/>
              </a:rPr>
              <a:t>Customer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081528"/>
            <a:ext cx="15442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8E8EA8"/>
                </a:solidFill>
                <a:latin typeface="Segoe UI"/>
              </a:rPr>
              <a:t>calls or messages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7501" y="2944368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40381" y="2743200"/>
            <a:ext cx="1690573" cy="658368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3533" y="2862072"/>
            <a:ext cx="15442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DEDF2"/>
                </a:solidFill>
                <a:latin typeface="Segoe UI"/>
              </a:rPr>
              <a:t>Speech → 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13533" y="3081528"/>
            <a:ext cx="15442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8E8EA8"/>
                </a:solidFill>
                <a:latin typeface="Segoe UI"/>
              </a:rPr>
              <a:t>language auto-detected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30954" y="2944368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13834" y="2743200"/>
            <a:ext cx="1690573" cy="658368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6986" y="2862072"/>
            <a:ext cx="15442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DEDF2"/>
                </a:solidFill>
                <a:latin typeface="Segoe UI"/>
              </a:rPr>
              <a:t>Agent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6986" y="3081528"/>
            <a:ext cx="15442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8E8EA8"/>
                </a:solidFill>
                <a:latin typeface="Segoe UI"/>
              </a:rPr>
              <a:t>your prices, your rules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04407" y="2944368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87287" y="2743200"/>
            <a:ext cx="1690573" cy="658368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60439" y="2862072"/>
            <a:ext cx="15442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DEDF2"/>
                </a:solidFill>
                <a:latin typeface="Segoe UI"/>
              </a:rPr>
              <a:t>Text → speech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0439" y="3081528"/>
            <a:ext cx="15442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8E8EA8"/>
                </a:solidFill>
                <a:latin typeface="Segoe UI"/>
              </a:rPr>
              <a:t>natural Indian voice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77860" y="2944368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60740" y="2743200"/>
            <a:ext cx="1690573" cy="658368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3892" y="2862072"/>
            <a:ext cx="15442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DEDF2"/>
                </a:solidFill>
                <a:latin typeface="Segoe UI"/>
              </a:rPr>
              <a:t>Answered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3892" y="3081528"/>
            <a:ext cx="15442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8E8EA8"/>
                </a:solidFill>
                <a:latin typeface="Segoe UI"/>
              </a:rPr>
              <a:t>call, text or voice note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51314" y="2944368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›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934194" y="2743200"/>
            <a:ext cx="1690573" cy="658368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07346" y="2862072"/>
            <a:ext cx="15442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DEDF2"/>
                </a:solidFill>
                <a:latin typeface="Segoe UI"/>
              </a:rPr>
              <a:t>Logged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07346" y="3081528"/>
            <a:ext cx="154426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8E8EA8"/>
                </a:solidFill>
                <a:latin typeface="Segoe UI"/>
              </a:rPr>
              <a:t>dashboard + CRM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3657600"/>
            <a:ext cx="3551834" cy="1920240"/>
          </a:xfrm>
          <a:prstGeom prst="roundRect">
            <a:avLst>
              <a:gd name="adj" fmla="val 55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67842" y="3931920"/>
            <a:ext cx="41148" cy="1371600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7824" y="3895344"/>
            <a:ext cx="29849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spc="140">
                <a:solidFill>
                  <a:srgbClr val="2EE6A8"/>
                </a:solidFill>
                <a:latin typeface="Segoe UI"/>
              </a:rPr>
              <a:t>01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7824" y="4151376"/>
            <a:ext cx="29849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DEDF2"/>
                </a:solidFill>
                <a:latin typeface="Segoe UI"/>
              </a:rPr>
              <a:t>Answers in the customer's language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7824" y="4462272"/>
            <a:ext cx="2984906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Script and whole-word detection picks Hindi, Hinglish, Marathi, Tamil or English from the first sentence — and the reply comes back in that same language, not a translation of English.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19930" y="3657600"/>
            <a:ext cx="3551834" cy="1920240"/>
          </a:xfrm>
          <a:prstGeom prst="roundRect">
            <a:avLst>
              <a:gd name="adj" fmla="val 55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0844" y="3931920"/>
            <a:ext cx="41148" cy="1371600"/>
          </a:xfrm>
          <a:prstGeom prst="rect">
            <a:avLst/>
          </a:prstGeom>
          <a:solidFill>
            <a:srgbClr val="A4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630826" y="3895344"/>
            <a:ext cx="29849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spc="140">
                <a:solidFill>
                  <a:srgbClr val="A48BFF"/>
                </a:solidFill>
                <a:latin typeface="Segoe UI"/>
              </a:rPr>
              <a:t>02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30826" y="4151376"/>
            <a:ext cx="29849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DEDF2"/>
                </a:solidFill>
                <a:latin typeface="Segoe UI"/>
              </a:rPr>
              <a:t>One brain across voice and WhatsApp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630826" y="4462272"/>
            <a:ext cx="2984906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A voice note gets a voice note back. Text gets text, written in the owner's own style. Adding a channel means adding an adapter, never a second AI.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72932" y="3657600"/>
            <a:ext cx="3551834" cy="1920240"/>
          </a:xfrm>
          <a:prstGeom prst="roundRect">
            <a:avLst>
              <a:gd name="adj" fmla="val 55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73847" y="3931920"/>
            <a:ext cx="41148" cy="137160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83828" y="3895344"/>
            <a:ext cx="298490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spc="140">
                <a:solidFill>
                  <a:srgbClr val="FF8A3D"/>
                </a:solidFill>
                <a:latin typeface="Segoe UI"/>
              </a:rPr>
              <a:t>03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83828" y="4151376"/>
            <a:ext cx="29849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DEDF2"/>
                </a:solidFill>
                <a:latin typeface="Segoe UI"/>
              </a:rPr>
              <a:t>Self-hosted, ₹0 per minute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83828" y="4462272"/>
            <a:ext cx="2984906" cy="9235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Free neural TTS, free-tier transcription and replies, SQLite on the shop's own machine. No card, no KYC, and customer conversations never leave the building.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66928" y="5742431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E6A8"/>
                </a:solidFill>
                <a:latin typeface="Segoe UI"/>
              </a:rPr>
              <a:t>Measured on a real run:  ~4 seconds from the customer finishing a sentence to hearing the reply — 1.3s transcribe, 1.0s think, 1.8s speak.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VoiceFlow AI  ·  Team Voice Flow  ·  HackMatrix 2026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27487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gradFill rotWithShape="1">
            <a:gsLst>
              <a:gs pos="0">
                <a:srgbClr val="16112C"/>
              </a:gs>
              <a:gs pos="100000">
                <a:srgbClr val="07070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90">
                <a:solidFill>
                  <a:srgbClr val="2EE6A8"/>
                </a:solidFill>
                <a:latin typeface="Segoe UI"/>
              </a:rPr>
              <a:t>PROTOTYPE / PRODUCT EXPERIENCE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DEDF2"/>
                </a:solidFill>
                <a:latin typeface="Segoe UI"/>
              </a:rPr>
              <a:t>What actually runs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884627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8E8EA8"/>
                </a:solidFill>
                <a:latin typeface="Segoe UI"/>
              </a:rPr>
              <a:t>Web call and WhatsApp both run the full pipeline end to end. This is the live product, not a mockup — and it is what we demo on stage.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47088"/>
            <a:ext cx="960120" cy="27432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2121408"/>
            <a:ext cx="508660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60">
                <a:solidFill>
                  <a:srgbClr val="5A5A72"/>
                </a:solidFill>
                <a:latin typeface="Segoe UI"/>
              </a:rPr>
              <a:t>WHAT ONE CUSTOMER GOES THROUGH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450591"/>
            <a:ext cx="5086606" cy="566928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2450591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2551175"/>
            <a:ext cx="41264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80">
                <a:solidFill>
                  <a:srgbClr val="EDEDF2"/>
                </a:solidFill>
                <a:latin typeface="Segoe UI"/>
              </a:rPr>
              <a:t>INPUT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16736" y="2761487"/>
            <a:ext cx="41264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E8EA8"/>
                </a:solidFill>
                <a:latin typeface="Segoe UI"/>
              </a:rPr>
              <a:t>Customer calls the shop, or sends a WhatsApp text or voice note.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090672"/>
            <a:ext cx="5086606" cy="566928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090672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16736" y="3191256"/>
            <a:ext cx="41264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80">
                <a:solidFill>
                  <a:srgbClr val="EDEDF2"/>
                </a:solidFill>
                <a:latin typeface="Segoe UI"/>
              </a:rPr>
              <a:t>UNDERSTAND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401568"/>
            <a:ext cx="41264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E8EA8"/>
                </a:solidFill>
                <a:latin typeface="Segoe UI"/>
              </a:rPr>
              <a:t>Audio is transcribed and the language is detected automatically.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730752"/>
            <a:ext cx="5086606" cy="566928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730752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16736" y="3831336"/>
            <a:ext cx="41264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80">
                <a:solidFill>
                  <a:srgbClr val="EDEDF2"/>
                </a:solidFill>
                <a:latin typeface="Segoe UI"/>
              </a:rPr>
              <a:t>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4041648"/>
            <a:ext cx="41264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E8EA8"/>
                </a:solidFill>
                <a:latin typeface="Segoe UI"/>
              </a:rPr>
              <a:t>The agent replies using the owner's real prices, timings and rules.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370832"/>
            <a:ext cx="5086606" cy="566928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370832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16736" y="4471416"/>
            <a:ext cx="41264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80">
                <a:solidFill>
                  <a:srgbClr val="EDEDF2"/>
                </a:solidFill>
                <a:latin typeface="Segoe UI"/>
              </a:rPr>
              <a:t>SPEAK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16736" y="4681728"/>
            <a:ext cx="41264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E8EA8"/>
                </a:solidFill>
                <a:latin typeface="Segoe UI"/>
              </a:rPr>
              <a:t>Spoken back on the call, or returned as a voice note on WhatsApp.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010912"/>
            <a:ext cx="5086606" cy="566928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5010912"/>
            <a:ext cx="502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6736" y="5111496"/>
            <a:ext cx="41264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80">
                <a:solidFill>
                  <a:srgbClr val="EDEDF2"/>
                </a:solidFill>
                <a:latin typeface="Segoe UI"/>
              </a:rPr>
              <a:t>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6736" y="5321808"/>
            <a:ext cx="412648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E8EA8"/>
                </a:solidFill>
                <a:latin typeface="Segoe UI"/>
              </a:rPr>
              <a:t>Lands in the dashboard, attached to that customer's timeline.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64430" y="2121408"/>
            <a:ext cx="566033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60">
                <a:solidFill>
                  <a:srgbClr val="5A5A72"/>
                </a:solidFill>
                <a:latin typeface="Segoe UI"/>
              </a:rPr>
              <a:t>NINE SCREENS, ALL LIVE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64430" y="2450591"/>
            <a:ext cx="2738728" cy="548640"/>
          </a:xfrm>
          <a:prstGeom prst="roundRect">
            <a:avLst>
              <a:gd name="adj" fmla="val 11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147310" y="2688335"/>
            <a:ext cx="82296" cy="82296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48478" y="2542032"/>
            <a:ext cx="2190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DEDF2"/>
                </a:solidFill>
                <a:latin typeface="Segoe UI"/>
              </a:rPr>
              <a:t>Dashboard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48478" y="2743199"/>
            <a:ext cx="2190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8E8EA8"/>
                </a:solidFill>
                <a:latin typeface="Segoe UI"/>
              </a:rPr>
              <a:t>everything at a glance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86038" y="2450591"/>
            <a:ext cx="2738728" cy="548640"/>
          </a:xfrm>
          <a:prstGeom prst="roundRect">
            <a:avLst>
              <a:gd name="adj" fmla="val 11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068918" y="2688335"/>
            <a:ext cx="82296" cy="82296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70086" y="2542032"/>
            <a:ext cx="2190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DEDF2"/>
                </a:solidFill>
                <a:latin typeface="Segoe UI"/>
              </a:rPr>
              <a:t>Web Call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70086" y="2743199"/>
            <a:ext cx="2190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8E8EA8"/>
                </a:solidFill>
                <a:latin typeface="Segoe UI"/>
              </a:rPr>
              <a:t>talk to the agent in-browser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64430" y="3072384"/>
            <a:ext cx="2738728" cy="548640"/>
          </a:xfrm>
          <a:prstGeom prst="roundRect">
            <a:avLst>
              <a:gd name="adj" fmla="val 11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147310" y="3310128"/>
            <a:ext cx="82296" cy="82296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48478" y="3163824"/>
            <a:ext cx="2190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DEDF2"/>
                </a:solidFill>
                <a:latin typeface="Segoe UI"/>
              </a:rPr>
              <a:t>WhatsApp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48478" y="3364991"/>
            <a:ext cx="2190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8E8EA8"/>
                </a:solidFill>
                <a:latin typeface="Segoe UI"/>
              </a:rPr>
              <a:t>inbox, QR, auto-reply switches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886038" y="3072384"/>
            <a:ext cx="2738728" cy="548640"/>
          </a:xfrm>
          <a:prstGeom prst="roundRect">
            <a:avLst>
              <a:gd name="adj" fmla="val 11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068918" y="3310128"/>
            <a:ext cx="82296" cy="82296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70086" y="3163824"/>
            <a:ext cx="2190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DEDF2"/>
                </a:solidFill>
                <a:latin typeface="Segoe UI"/>
              </a:rPr>
              <a:t>Agents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70086" y="3364991"/>
            <a:ext cx="2190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8E8EA8"/>
                </a:solidFill>
                <a:latin typeface="Segoe UI"/>
              </a:rPr>
              <a:t>personas and business facts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64430" y="3694176"/>
            <a:ext cx="2738728" cy="548640"/>
          </a:xfrm>
          <a:prstGeom prst="roundRect">
            <a:avLst>
              <a:gd name="adj" fmla="val 11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6147310" y="3931920"/>
            <a:ext cx="82296" cy="82296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48478" y="3785615"/>
            <a:ext cx="2190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DEDF2"/>
                </a:solidFill>
                <a:latin typeface="Segoe UI"/>
              </a:rPr>
              <a:t>Voice Studio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48478" y="3986784"/>
            <a:ext cx="2190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8E8EA8"/>
                </a:solidFill>
                <a:latin typeface="Segoe UI"/>
              </a:rPr>
              <a:t>21 voices, speed and pitch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886038" y="3694176"/>
            <a:ext cx="2738728" cy="548640"/>
          </a:xfrm>
          <a:prstGeom prst="roundRect">
            <a:avLst>
              <a:gd name="adj" fmla="val 11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068918" y="3931920"/>
            <a:ext cx="82296" cy="82296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270086" y="3785615"/>
            <a:ext cx="2190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DEDF2"/>
                </a:solidFill>
                <a:latin typeface="Segoe UI"/>
              </a:rPr>
              <a:t>Contacts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270086" y="3986784"/>
            <a:ext cx="2190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8E8EA8"/>
                </a:solidFill>
                <a:latin typeface="Segoe UI"/>
              </a:rPr>
              <a:t>CRM built from conversations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964430" y="4315968"/>
            <a:ext cx="2738728" cy="548640"/>
          </a:xfrm>
          <a:prstGeom prst="roundRect">
            <a:avLst>
              <a:gd name="adj" fmla="val 11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6147310" y="4553712"/>
            <a:ext cx="82296" cy="82296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48478" y="4407407"/>
            <a:ext cx="2190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DEDF2"/>
                </a:solidFill>
                <a:latin typeface="Segoe UI"/>
              </a:rPr>
              <a:t>Calls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48478" y="4608576"/>
            <a:ext cx="2190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8E8EA8"/>
                </a:solidFill>
                <a:latin typeface="Segoe UI"/>
              </a:rPr>
              <a:t>every turn, with transcripts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886038" y="4315968"/>
            <a:ext cx="2738728" cy="548640"/>
          </a:xfrm>
          <a:prstGeom prst="roundRect">
            <a:avLst>
              <a:gd name="adj" fmla="val 11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068918" y="4553712"/>
            <a:ext cx="82296" cy="82296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270086" y="4407407"/>
            <a:ext cx="2190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DEDF2"/>
                </a:solidFill>
                <a:latin typeface="Segoe UI"/>
              </a:rPr>
              <a:t>Campaigns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270086" y="4608576"/>
            <a:ext cx="2190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8E8EA8"/>
                </a:solidFill>
                <a:latin typeface="Segoe UI"/>
              </a:rPr>
              <a:t>bulk outbound list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964430" y="4937760"/>
            <a:ext cx="2738728" cy="548640"/>
          </a:xfrm>
          <a:prstGeom prst="roundRect">
            <a:avLst>
              <a:gd name="adj" fmla="val 11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147310" y="5175504"/>
            <a:ext cx="82296" cy="82296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348478" y="5029200"/>
            <a:ext cx="2190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DEDF2"/>
                </a:solidFill>
                <a:latin typeface="Segoe UI"/>
              </a:rPr>
              <a:t>Analytics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48478" y="5230368"/>
            <a:ext cx="2190088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30" b="0">
                <a:solidFill>
                  <a:srgbClr val="8E8EA8"/>
                </a:solidFill>
                <a:latin typeface="Segoe UI"/>
              </a:rPr>
              <a:t>volume, outcomes, per agent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64430" y="5559552"/>
            <a:ext cx="566033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E6A8"/>
                </a:solidFill>
                <a:latin typeface="Segoe UI"/>
              </a:rPr>
              <a:t>45 API routes  ·  ~7,600 lines  ·  21 automated tests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VoiceFlow AI  ·  Team Voice Flow  ·  HackMatrix 2026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527487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06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6144768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Every number in this deck was measured on an actual run — nothing here is estimated or mocked.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gradFill rotWithShape="1">
            <a:gsLst>
              <a:gs pos="0">
                <a:srgbClr val="16112C"/>
              </a:gs>
              <a:gs pos="100000">
                <a:srgbClr val="07070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90">
                <a:solidFill>
                  <a:srgbClr val="2EE6A8"/>
                </a:solidFill>
                <a:latin typeface="Segoe UI"/>
              </a:rPr>
              <a:t>WHAT MAKES US DIFFERENT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DEDF2"/>
                </a:solidFill>
                <a:latin typeface="Segoe UI"/>
              </a:rPr>
              <a:t>Everyone uses AI. Nobody built it for this shop.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960120" cy="27432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572768"/>
            <a:ext cx="34290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50">
                <a:solidFill>
                  <a:srgbClr val="5A5A72"/>
                </a:solidFill>
                <a:latin typeface="Segoe UI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53128" y="1572768"/>
            <a:ext cx="3246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50">
                <a:solidFill>
                  <a:srgbClr val="A48BFF"/>
                </a:solidFill>
                <a:latin typeface="Segoe UI"/>
              </a:rPr>
              <a:t>EXISTING TOOLS  (VAPI, RETELL  ·  AISENSY, WATI, GUPSHUP)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73567" y="1572768"/>
            <a:ext cx="355975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50">
                <a:solidFill>
                  <a:srgbClr val="A48BFF"/>
                </a:solidFill>
                <a:latin typeface="Segoe UI"/>
              </a:rPr>
              <a:t>VOICEFLOW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1847088"/>
            <a:ext cx="11057839" cy="10972"/>
          </a:xfrm>
          <a:prstGeom prst="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901952"/>
            <a:ext cx="11057839" cy="457200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901952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Hindi, Hinglish, Indian accent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9019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Weak — US voice AI is English-first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7" y="1901952"/>
            <a:ext cx="35597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2EE6A8"/>
                </a:solidFill>
                <a:latin typeface="Segoe UI"/>
              </a:rPr>
              <a:t>Detected and answered natively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359152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Voice + WhatsApp in one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23591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Separate products, separate bills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7" y="2359152"/>
            <a:ext cx="35597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2EE6A8"/>
                </a:solidFill>
                <a:latin typeface="Segoe UI"/>
              </a:rPr>
              <a:t>One brain, both channels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816352"/>
            <a:ext cx="11057839" cy="457200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816352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Cost per conversation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28163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Per-minute USD, or ₹1–5 per WA session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7" y="2816352"/>
            <a:ext cx="35597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2EE6A8"/>
                </a:solidFill>
                <a:latin typeface="Segoe UI"/>
              </a:rPr>
              <a:t>₹0 marginal — free/free-tier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3273552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Where customer data sits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53128" y="32735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The vendor's cloud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73567" y="3273552"/>
            <a:ext cx="35597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2EE6A8"/>
                </a:solidFill>
                <a:latin typeface="Segoe UI"/>
              </a:rPr>
              <a:t>The shop's own machine, in India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730752"/>
            <a:ext cx="11057839" cy="457200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3730752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Business facts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37307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A generic prompt or FAQ bot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3567" y="3730752"/>
            <a:ext cx="35597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2EE6A8"/>
                </a:solidFill>
                <a:latin typeface="Segoe UI"/>
              </a:rPr>
              <a:t>Your prices, timings and limits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187952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Getting started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53128" y="41879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Sales call, KYC, card on 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973567" y="4187952"/>
            <a:ext cx="35597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2EE6A8"/>
                </a:solidFill>
                <a:latin typeface="Segoe UI"/>
              </a:rPr>
              <a:t>Runs on a laptop this afternoon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645152"/>
            <a:ext cx="11057839" cy="457200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645152"/>
            <a:ext cx="3429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When the AI does not know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53128" y="4645152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Invents a price or a free slot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73567" y="4645152"/>
            <a:ext cx="3559759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2EE6A8"/>
                </a:solidFill>
                <a:latin typeface="Segoe UI"/>
              </a:rPr>
              <a:t>Says it will confirm and call back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5358384"/>
            <a:ext cx="11057839" cy="841248"/>
          </a:xfrm>
          <a:prstGeom prst="roundRect">
            <a:avLst>
              <a:gd name="adj" fmla="val 8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" y="5522976"/>
            <a:ext cx="41148" cy="512064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77824" y="5522976"/>
            <a:ext cx="1041775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>
                <a:solidFill>
                  <a:srgbClr val="EDEDF2"/>
                </a:solidFill>
                <a:latin typeface="Segoe UI"/>
              </a:rPr>
              <a:t>Our differentiator is not that we use AI. Everyone uses AI.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050" b="0">
                <a:solidFill>
                  <a:srgbClr val="8E8EA8"/>
                </a:solidFill>
                <a:latin typeface="Segoe UI"/>
              </a:rPr>
              <a:t>It is that the whole thing is self-hosted, speaks Indian languages properly, costs a small business nothing per call — and is told what it does not know, so it defers instead of inventing.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VoiceFlow AI  ·  Team Voice Flow  ·  HackMatrix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27487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gradFill rotWithShape="1">
            <a:gsLst>
              <a:gs pos="0">
                <a:srgbClr val="16112C"/>
              </a:gs>
              <a:gs pos="100000">
                <a:srgbClr val="07070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90">
                <a:solidFill>
                  <a:srgbClr val="2EE6A8"/>
                </a:solidFill>
                <a:latin typeface="Segoe UI"/>
              </a:rPr>
              <a:t>BUSINESS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DEDF2"/>
                </a:solidFill>
                <a:latin typeface="Segoe UI"/>
              </a:rPr>
              <a:t>Priced so the smallest shop can say 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884627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8E8EA8"/>
                </a:solidFill>
                <a:latin typeface="Segoe UI"/>
              </a:rPr>
              <a:t>Three monthly plans from ₹999 to ₹1,999 — a barber can start, a wholesaler grows into the top plan. The wholesaler is who we chase: highest call volume, most to lose, most to pay for.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47088"/>
            <a:ext cx="960120" cy="27432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121408"/>
            <a:ext cx="3551834" cy="2084831"/>
          </a:xfrm>
          <a:prstGeom prst="roundRect">
            <a:avLst>
              <a:gd name="adj" fmla="val 5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121408"/>
            <a:ext cx="3551834" cy="45720"/>
          </a:xfrm>
          <a:prstGeom prst="rect">
            <a:avLst/>
          </a:prstGeom>
          <a:solidFill>
            <a:srgbClr val="A4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304288"/>
            <a:ext cx="300319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60">
                <a:solidFill>
                  <a:srgbClr val="A48BFF"/>
                </a:solidFill>
                <a:latin typeface="Segoe UI"/>
              </a:rPr>
              <a:t>STARTER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523744"/>
            <a:ext cx="300319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EDEDF2"/>
                </a:solidFill>
                <a:latin typeface="Segoe UI"/>
              </a:rPr>
              <a:t>₹999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8568" y="267004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/ month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017520"/>
            <a:ext cx="300319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A48BFF"/>
                </a:solidFill>
                <a:latin typeface="Segoe UI"/>
              </a:rPr>
              <a:t>Barber, kirana, single-chair salon</a:t>
            </a:r>
          </a:p>
        </p:txBody>
      </p:sp>
      <p:sp>
        <p:nvSpPr>
          <p:cNvPr id="14" name="Oval 13"/>
          <p:cNvSpPr/>
          <p:nvPr/>
        </p:nvSpPr>
        <p:spPr>
          <a:xfrm>
            <a:off x="859536" y="3410711"/>
            <a:ext cx="64008" cy="64008"/>
          </a:xfrm>
          <a:prstGeom prst="ellipse">
            <a:avLst/>
          </a:prstGeom>
          <a:solidFill>
            <a:srgbClr val="A4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364991"/>
            <a:ext cx="28386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8E8EA8"/>
                </a:solidFill>
                <a:latin typeface="Segoe UI"/>
              </a:rPr>
              <a:t>WhatsApp auto-reply + browser calls</a:t>
            </a:r>
          </a:p>
        </p:txBody>
      </p:sp>
      <p:sp>
        <p:nvSpPr>
          <p:cNvPr id="16" name="Oval 15"/>
          <p:cNvSpPr/>
          <p:nvPr/>
        </p:nvSpPr>
        <p:spPr>
          <a:xfrm>
            <a:off x="859536" y="3616451"/>
            <a:ext cx="64008" cy="64008"/>
          </a:xfrm>
          <a:prstGeom prst="ellipse">
            <a:avLst/>
          </a:prstGeom>
          <a:solidFill>
            <a:srgbClr val="A4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3570732"/>
            <a:ext cx="28386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8E8EA8"/>
                </a:solidFill>
                <a:latin typeface="Segoe UI"/>
              </a:rPr>
              <a:t>1 agent, 1 voice</a:t>
            </a:r>
          </a:p>
        </p:txBody>
      </p:sp>
      <p:sp>
        <p:nvSpPr>
          <p:cNvPr id="18" name="Oval 17"/>
          <p:cNvSpPr/>
          <p:nvPr/>
        </p:nvSpPr>
        <p:spPr>
          <a:xfrm>
            <a:off x="859536" y="3822191"/>
            <a:ext cx="64008" cy="64008"/>
          </a:xfrm>
          <a:prstGeom prst="ellipse">
            <a:avLst/>
          </a:prstGeom>
          <a:solidFill>
            <a:srgbClr val="A4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776472"/>
            <a:ext cx="28386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8E8EA8"/>
                </a:solidFill>
                <a:latin typeface="Segoe UI"/>
              </a:rPr>
              <a:t>~200 conversations / month</a:t>
            </a:r>
          </a:p>
        </p:txBody>
      </p:sp>
      <p:sp>
        <p:nvSpPr>
          <p:cNvPr id="20" name="Oval 19"/>
          <p:cNvSpPr/>
          <p:nvPr/>
        </p:nvSpPr>
        <p:spPr>
          <a:xfrm>
            <a:off x="859536" y="4027931"/>
            <a:ext cx="64008" cy="64008"/>
          </a:xfrm>
          <a:prstGeom prst="ellipse">
            <a:avLst/>
          </a:prstGeom>
          <a:solidFill>
            <a:srgbClr val="A4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3982211"/>
            <a:ext cx="28386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8E8EA8"/>
                </a:solidFill>
                <a:latin typeface="Segoe UI"/>
              </a:rPr>
              <a:t>Everything the free build has, hosted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19930" y="2121408"/>
            <a:ext cx="3551834" cy="2084831"/>
          </a:xfrm>
          <a:prstGeom prst="roundRect">
            <a:avLst>
              <a:gd name="adj" fmla="val 5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19930" y="2121408"/>
            <a:ext cx="3551834" cy="45720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94250" y="2304288"/>
            <a:ext cx="300319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60">
                <a:solidFill>
                  <a:srgbClr val="2EE6A8"/>
                </a:solidFill>
                <a:latin typeface="Segoe UI"/>
              </a:rPr>
              <a:t>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4250" y="2523744"/>
            <a:ext cx="300319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EDEDF2"/>
                </a:solidFill>
                <a:latin typeface="Segoe UI"/>
              </a:rPr>
              <a:t>₹1,499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85890" y="267004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/ month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94250" y="3017520"/>
            <a:ext cx="300319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2EE6A8"/>
                </a:solidFill>
                <a:latin typeface="Segoe UI"/>
              </a:rPr>
              <a:t>Busy clinic, salon, coaching centre</a:t>
            </a:r>
          </a:p>
        </p:txBody>
      </p:sp>
      <p:sp>
        <p:nvSpPr>
          <p:cNvPr id="28" name="Oval 27"/>
          <p:cNvSpPr/>
          <p:nvPr/>
        </p:nvSpPr>
        <p:spPr>
          <a:xfrm>
            <a:off x="4612538" y="3410711"/>
            <a:ext cx="64008" cy="64008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7130" y="3364991"/>
            <a:ext cx="28386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8E8EA8"/>
                </a:solidFill>
                <a:latin typeface="Segoe UI"/>
              </a:rPr>
              <a:t>Everything in Starter</a:t>
            </a:r>
          </a:p>
        </p:txBody>
      </p:sp>
      <p:sp>
        <p:nvSpPr>
          <p:cNvPr id="30" name="Oval 29"/>
          <p:cNvSpPr/>
          <p:nvPr/>
        </p:nvSpPr>
        <p:spPr>
          <a:xfrm>
            <a:off x="4612538" y="3616451"/>
            <a:ext cx="64008" cy="64008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77130" y="3570732"/>
            <a:ext cx="28386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8E8EA8"/>
                </a:solidFill>
                <a:latin typeface="Segoe UI"/>
              </a:rPr>
              <a:t>Multiple agents &amp; 21 voices</a:t>
            </a:r>
          </a:p>
        </p:txBody>
      </p:sp>
      <p:sp>
        <p:nvSpPr>
          <p:cNvPr id="32" name="Oval 31"/>
          <p:cNvSpPr/>
          <p:nvPr/>
        </p:nvSpPr>
        <p:spPr>
          <a:xfrm>
            <a:off x="4612538" y="3822191"/>
            <a:ext cx="64008" cy="64008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77130" y="3776472"/>
            <a:ext cx="28386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8E8EA8"/>
                </a:solidFill>
                <a:latin typeface="Segoe UI"/>
              </a:rPr>
              <a:t>~500 conversations / month</a:t>
            </a:r>
          </a:p>
        </p:txBody>
      </p:sp>
      <p:sp>
        <p:nvSpPr>
          <p:cNvPr id="34" name="Oval 33"/>
          <p:cNvSpPr/>
          <p:nvPr/>
        </p:nvSpPr>
        <p:spPr>
          <a:xfrm>
            <a:off x="4612538" y="4027931"/>
            <a:ext cx="64008" cy="64008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77130" y="3982211"/>
            <a:ext cx="28386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8E8EA8"/>
                </a:solidFill>
                <a:latin typeface="Segoe UI"/>
              </a:rPr>
              <a:t>Campaigns + full analytics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72932" y="2121408"/>
            <a:ext cx="3551834" cy="2084831"/>
          </a:xfrm>
          <a:prstGeom prst="roundRect">
            <a:avLst>
              <a:gd name="adj" fmla="val 5000"/>
            </a:avLst>
          </a:prstGeom>
          <a:solidFill>
            <a:srgbClr val="161623"/>
          </a:solidFill>
          <a:ln w="20320">
            <a:solidFill>
              <a:srgbClr val="FF8A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072932" y="2121408"/>
            <a:ext cx="3551834" cy="4572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47252" y="2304288"/>
            <a:ext cx="300319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60">
                <a:solidFill>
                  <a:srgbClr val="FF8A3D"/>
                </a:solidFill>
                <a:latin typeface="Segoe UI"/>
              </a:rPr>
              <a:t>WHOLESALER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99471" y="2258568"/>
            <a:ext cx="987552" cy="237744"/>
          </a:xfrm>
          <a:prstGeom prst="roundRect">
            <a:avLst>
              <a:gd name="adj" fmla="val 40000"/>
            </a:avLst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399471" y="2258568"/>
            <a:ext cx="987552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750" b="1">
                <a:solidFill>
                  <a:srgbClr val="07070C"/>
                </a:solidFill>
                <a:latin typeface="Segoe UI"/>
              </a:rPr>
              <a:t>MAIN TARGET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7252" y="2523744"/>
            <a:ext cx="3003194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EDEDF2"/>
                </a:solidFill>
                <a:latin typeface="Segoe UI"/>
              </a:rPr>
              <a:t>₹1,999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38892" y="2670048"/>
            <a:ext cx="12801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/ month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7252" y="3017520"/>
            <a:ext cx="3003194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00" b="1">
                <a:solidFill>
                  <a:srgbClr val="FF8A3D"/>
                </a:solidFill>
                <a:latin typeface="Segoe UI"/>
              </a:rPr>
              <a:t>Distributor / high-volume shop — our target</a:t>
            </a:r>
          </a:p>
        </p:txBody>
      </p:sp>
      <p:sp>
        <p:nvSpPr>
          <p:cNvPr id="44" name="Oval 43"/>
          <p:cNvSpPr/>
          <p:nvPr/>
        </p:nvSpPr>
        <p:spPr>
          <a:xfrm>
            <a:off x="8365540" y="3410711"/>
            <a:ext cx="64008" cy="6400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30132" y="3364991"/>
            <a:ext cx="28386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8E8EA8"/>
                </a:solidFill>
                <a:latin typeface="Segoe UI"/>
              </a:rPr>
              <a:t>Everything in Growth</a:t>
            </a:r>
          </a:p>
        </p:txBody>
      </p:sp>
      <p:sp>
        <p:nvSpPr>
          <p:cNvPr id="46" name="Oval 45"/>
          <p:cNvSpPr/>
          <p:nvPr/>
        </p:nvSpPr>
        <p:spPr>
          <a:xfrm>
            <a:off x="8365540" y="3616451"/>
            <a:ext cx="64008" cy="6400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30132" y="3570732"/>
            <a:ext cx="28386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8E8EA8"/>
                </a:solidFill>
                <a:latin typeface="Segoe UI"/>
              </a:rPr>
              <a:t>Multiple numbers &amp; bulk outbound</a:t>
            </a:r>
          </a:p>
        </p:txBody>
      </p:sp>
      <p:sp>
        <p:nvSpPr>
          <p:cNvPr id="48" name="Oval 47"/>
          <p:cNvSpPr/>
          <p:nvPr/>
        </p:nvSpPr>
        <p:spPr>
          <a:xfrm>
            <a:off x="8365540" y="3822191"/>
            <a:ext cx="64008" cy="6400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30132" y="3776472"/>
            <a:ext cx="28386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8E8EA8"/>
                </a:solidFill>
                <a:latin typeface="Segoe UI"/>
              </a:rPr>
              <a:t>Unlimited* conversations</a:t>
            </a:r>
          </a:p>
        </p:txBody>
      </p:sp>
      <p:sp>
        <p:nvSpPr>
          <p:cNvPr id="50" name="Oval 49"/>
          <p:cNvSpPr/>
          <p:nvPr/>
        </p:nvSpPr>
        <p:spPr>
          <a:xfrm>
            <a:off x="8365540" y="4027931"/>
            <a:ext cx="64008" cy="6400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30132" y="3982211"/>
            <a:ext cx="283860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860" b="0">
                <a:solidFill>
                  <a:srgbClr val="8E8EA8"/>
                </a:solidFill>
                <a:latin typeface="Segoe UI"/>
              </a:rPr>
              <a:t>Priority support + phone lines first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9808" y="4462272"/>
            <a:ext cx="24688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50">
                <a:solidFill>
                  <a:srgbClr val="5A5A72"/>
                </a:solidFill>
                <a:latin typeface="Segoe UI"/>
              </a:rPr>
              <a:t>PLAN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93008" y="4462272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50">
                <a:solidFill>
                  <a:srgbClr val="A48BFF"/>
                </a:solidFill>
                <a:latin typeface="Segoe UI"/>
              </a:rPr>
              <a:t>OUR COST / MO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70448" y="4462272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50">
                <a:solidFill>
                  <a:srgbClr val="A48BFF"/>
                </a:solidFill>
                <a:latin typeface="Segoe UI"/>
              </a:rPr>
              <a:t>PROFIT / MO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22207" y="4462272"/>
            <a:ext cx="301111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50">
                <a:solidFill>
                  <a:srgbClr val="A48BFF"/>
                </a:solidFill>
                <a:latin typeface="Segoe UI"/>
              </a:rPr>
              <a:t>MARGIN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736592"/>
            <a:ext cx="11057839" cy="10972"/>
          </a:xfrm>
          <a:prstGeom prst="rect">
            <a:avLst/>
          </a:prstGeom>
          <a:solidFill>
            <a:srgbClr val="24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66928" y="4791456"/>
            <a:ext cx="11057839" cy="384048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9808" y="4791456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Starter  ·  ₹999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93008" y="4791456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~₹150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70448" y="4791456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₹849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522207" y="4791456"/>
            <a:ext cx="30111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EE6A8"/>
                </a:solidFill>
                <a:latin typeface="Segoe UI"/>
              </a:rPr>
              <a:t>85%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5175504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Growth  ·  ₹1,499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493008" y="5175504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~₹300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70448" y="5175504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₹1,199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522207" y="5175504"/>
            <a:ext cx="30111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EE6A8"/>
                </a:solidFill>
                <a:latin typeface="Segoe UI"/>
              </a:rPr>
              <a:t>80%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66928" y="5559552"/>
            <a:ext cx="11057839" cy="384048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49808" y="5559552"/>
            <a:ext cx="246888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Wholesaler  ·  ₹1,999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493008" y="5559552"/>
            <a:ext cx="2103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~₹500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70448" y="5559552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₹1,499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22207" y="5559552"/>
            <a:ext cx="301111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100" b="1">
                <a:solidFill>
                  <a:srgbClr val="2EE6A8"/>
                </a:solidFill>
                <a:latin typeface="Segoe UI"/>
              </a:rPr>
              <a:t>75%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66928" y="607161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8E8EA8"/>
                </a:solidFill>
                <a:latin typeface="Segoe UI"/>
              </a:rPr>
              <a:t>One-time setup ₹1,999–₹3,999 (reseller loads facts, connects WhatsApp)   ·   annual plan = 2 months free   ·   free 14-day trial, no card, cancel anytime.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66928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VoiceFlow AI  ·  Team Voice Flow  ·  HackMatrix 2026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527487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08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66928" y="6144768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Cost basis (verified rates, our usage estimate): Groq STT $0.04/audio-hr + gpt-oss-120b $0.15/$0.60 per M tokens ≈ ₹0.2/conversation; Edge TTS free; WhatsApp service replies free (Meta, within 24h window); shared VPS ~₹50/shop. Margin floor we price to is 20%. Revenue is not yet measured — a paid pilot of 5 Indore shops tests willingness-to-pay before we scale via resellers.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gradFill rotWithShape="1">
            <a:gsLst>
              <a:gs pos="0">
                <a:srgbClr val="16112C"/>
              </a:gs>
              <a:gs pos="100000">
                <a:srgbClr val="07070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90">
                <a:solidFill>
                  <a:srgbClr val="2EE6A8"/>
                </a:solidFill>
                <a:latin typeface="Segoe UI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DEDF2"/>
                </a:solidFill>
                <a:latin typeface="Segoe UI"/>
              </a:rPr>
              <a:t>Three channels, one pipeline, one file per vendor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960120" cy="27432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17904"/>
            <a:ext cx="602652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60">
                <a:solidFill>
                  <a:srgbClr val="5A5A72"/>
                </a:solidFill>
                <a:latin typeface="Segoe UI"/>
              </a:rPr>
              <a:t>HOW A CONVERSATION 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1886920" cy="566928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74061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DEDF2"/>
                </a:solidFill>
                <a:latin typeface="Segoe UI"/>
              </a:rPr>
              <a:t>Phone
Asterisk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53848" y="1984248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/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36728" y="1828800"/>
            <a:ext cx="1886920" cy="566928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9880" y="1828800"/>
            <a:ext cx="174061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DEDF2"/>
                </a:solidFill>
                <a:latin typeface="Segoe UI"/>
              </a:rPr>
              <a:t>WhatsApp
bridge or Meta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3649" y="1984248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/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06529" y="1828800"/>
            <a:ext cx="1886920" cy="566928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9681" y="1828800"/>
            <a:ext cx="1740616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EDEDF2"/>
                </a:solidFill>
                <a:latin typeface="Segoe UI"/>
              </a:rPr>
              <a:t>Browser
WebSocket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2432304"/>
            <a:ext cx="602652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2706624"/>
            <a:ext cx="6026522" cy="786384"/>
          </a:xfrm>
          <a:prstGeom prst="roundRect">
            <a:avLst>
              <a:gd name="adj" fmla="val 8000"/>
            </a:avLst>
          </a:prstGeom>
          <a:solidFill>
            <a:srgbClr val="101019"/>
          </a:solidFill>
          <a:ln w="12700">
            <a:solidFill>
              <a:srgbClr val="7C5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816352"/>
            <a:ext cx="566076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EDEDF2"/>
                </a:solidFill>
                <a:latin typeface="Segoe UI"/>
              </a:rPr>
              <a:t>FastAPI backend — the one pipeline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072384"/>
            <a:ext cx="566076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2EE6A8"/>
                </a:solidFill>
                <a:latin typeface="Segoe UI"/>
              </a:rPr>
              <a:t>transcribe  ›  reply  ›  speak  ›  store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529584"/>
            <a:ext cx="602652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803904"/>
            <a:ext cx="1886920" cy="640080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922776"/>
            <a:ext cx="1740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DEDF2"/>
                </a:solidFill>
                <a:latin typeface="Segoe UI"/>
              </a:rPr>
              <a:t>Groq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142232"/>
            <a:ext cx="1740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8E8EA8"/>
                </a:solidFill>
                <a:latin typeface="Segoe UI"/>
              </a:rPr>
              <a:t>Whisper + gpt-oss-120b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53848" y="3995928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/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36728" y="3803904"/>
            <a:ext cx="1886920" cy="640080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09880" y="3922776"/>
            <a:ext cx="1740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DEDF2"/>
                </a:solidFill>
                <a:latin typeface="Segoe UI"/>
              </a:rPr>
              <a:t>Edge TTS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9880" y="4142232"/>
            <a:ext cx="1740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8E8EA8"/>
                </a:solidFill>
                <a:latin typeface="Segoe UI"/>
              </a:rPr>
              <a:t>free, 21 Indian voices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3649" y="3995928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06529" y="3803904"/>
            <a:ext cx="1886920" cy="640080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9681" y="3922776"/>
            <a:ext cx="1740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EDEDF2"/>
                </a:solidFill>
                <a:latin typeface="Segoe UI"/>
              </a:rPr>
              <a:t>SQLite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79681" y="4142232"/>
            <a:ext cx="1740616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8E8EA8"/>
                </a:solidFill>
                <a:latin typeface="Segoe UI"/>
              </a:rPr>
              <a:t>one file, on-premise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626864"/>
            <a:ext cx="6026522" cy="566928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4626864"/>
            <a:ext cx="558761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Every external service is owned by exactly one file — swapping a vendor is one file's work, not a rewrite.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4346" y="1517904"/>
            <a:ext cx="47204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60">
                <a:solidFill>
                  <a:srgbClr val="5A5A72"/>
                </a:solidFill>
                <a:latin typeface="Segoe UI"/>
              </a:rPr>
              <a:t>STACK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904346" y="1828800"/>
            <a:ext cx="4720420" cy="374904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87226" y="1828800"/>
            <a:ext cx="13258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48BFF"/>
                </a:solidFill>
                <a:latin typeface="Segoe UI"/>
              </a:rPr>
              <a:t>Frontend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77114" y="1828800"/>
            <a:ext cx="296477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8E8EA8"/>
                </a:solidFill>
                <a:latin typeface="Segoe UI"/>
              </a:rPr>
              <a:t>React 19 · Vite · Tailwind v4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904346" y="2263140"/>
            <a:ext cx="4720420" cy="374904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87226" y="2263140"/>
            <a:ext cx="13258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48BFF"/>
                </a:solidFill>
                <a:latin typeface="Segoe UI"/>
              </a:rPr>
              <a:t>Backend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7114" y="2263140"/>
            <a:ext cx="296477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8E8EA8"/>
                </a:solidFill>
                <a:latin typeface="Segoe UI"/>
              </a:rPr>
              <a:t>FastAPI (Python) · WebSockets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904346" y="2697480"/>
            <a:ext cx="4720420" cy="374904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87226" y="2697480"/>
            <a:ext cx="1325880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48BFF"/>
                </a:solidFill>
                <a:latin typeface="Segoe UI"/>
              </a:rPr>
              <a:t>Database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477114" y="2697480"/>
            <a:ext cx="2964772" cy="3749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8E8EA8"/>
                </a:solidFill>
                <a:latin typeface="Segoe UI"/>
              </a:rPr>
              <a:t>SQLite — no server to run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904346" y="3131820"/>
            <a:ext cx="4720420" cy="502920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087226" y="3131820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48BFF"/>
                </a:solidFill>
                <a:latin typeface="Segoe UI"/>
              </a:rPr>
              <a:t>Speech → text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77114" y="3131820"/>
            <a:ext cx="29647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8E8EA8"/>
                </a:solidFill>
                <a:latin typeface="Segoe UI"/>
              </a:rPr>
              <a:t>Groq Whisper large-v3 (1.3s)
faster-whisper locally as fallback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04346" y="3694176"/>
            <a:ext cx="4720420" cy="502920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87226" y="3694176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48BFF"/>
                </a:solidFill>
                <a:latin typeface="Segoe UI"/>
              </a:rPr>
              <a:t>Replies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77114" y="3694176"/>
            <a:ext cx="29647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8E8EA8"/>
                </a:solidFill>
                <a:latin typeface="Segoe UI"/>
              </a:rPr>
              <a:t>Any OpenAI-compatible endpoint
today: gpt-oss-120b on Groq (~1.0s)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904346" y="4256532"/>
            <a:ext cx="4720420" cy="502920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087226" y="4256532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48BFF"/>
                </a:solidFill>
                <a:latin typeface="Segoe UI"/>
              </a:rPr>
              <a:t>Text → speech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77114" y="4256532"/>
            <a:ext cx="29647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8E8EA8"/>
                </a:solidFill>
                <a:latin typeface="Segoe UI"/>
              </a:rPr>
              <a:t>Edge TTS — free, 9 Indian languages
Cartesia when voice cloning is wanted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904346" y="4818888"/>
            <a:ext cx="4720420" cy="502920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087226" y="4818888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48BFF"/>
                </a:solidFill>
                <a:latin typeface="Segoe UI"/>
              </a:rPr>
              <a:t>WhatsApp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77114" y="4818888"/>
            <a:ext cx="29647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8E8EA8"/>
                </a:solidFill>
                <a:latin typeface="Segoe UI"/>
              </a:rPr>
              <a:t>Local WhatsApp Web bridge, or
Meta Cloud API — one setting switches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904346" y="5381244"/>
            <a:ext cx="4720420" cy="502920"/>
          </a:xfrm>
          <a:prstGeom prst="roundRect">
            <a:avLst>
              <a:gd name="adj" fmla="val 10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087226" y="5381244"/>
            <a:ext cx="13258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A48BFF"/>
                </a:solidFill>
                <a:latin typeface="Segoe UI"/>
              </a:rPr>
              <a:t>Telephony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77114" y="5381244"/>
            <a:ext cx="2964772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2000"/>
              </a:lnSpc>
              <a:spcAft>
                <a:spcPts val="0"/>
              </a:spcAft>
            </a:pPr>
            <a:r>
              <a:rPr sz="900" b="0">
                <a:solidFill>
                  <a:srgbClr val="8E8EA8"/>
                </a:solidFill>
                <a:latin typeface="Segoe UI"/>
              </a:rPr>
              <a:t>Asterisk PBX, self-hosted
your own SIM over a Bluetooth gateway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66928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VoiceFlow AI  ·  Team Voice Flow  ·  HackMatrix 2026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527487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09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6144768"/>
            <a:ext cx="977767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Proof it works: the chat model was swapped Llama → gpt-oss and the voice Cartesia → Edge, each by changing a single environment variable.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gradFill rotWithShape="1">
            <a:gsLst>
              <a:gs pos="0">
                <a:srgbClr val="16112C"/>
              </a:gs>
              <a:gs pos="100000">
                <a:srgbClr val="07070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90">
                <a:solidFill>
                  <a:srgbClr val="2EE6A8"/>
                </a:solidFill>
                <a:latin typeface="Segoe UI"/>
              </a:rPr>
              <a:t>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DEDF2"/>
                </a:solidFill>
                <a:latin typeface="Segoe UI"/>
              </a:rPr>
              <a:t>Built and measured — not described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884627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8E8EA8"/>
                </a:solidFill>
                <a:latin typeface="Segoe UI"/>
              </a:rPr>
              <a:t>We are deliberately explicit about the line between what runs and what does not. Everything green can be demonstrated live.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47088"/>
            <a:ext cx="960120" cy="27432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121408"/>
            <a:ext cx="5391759" cy="3310128"/>
          </a:xfrm>
          <a:prstGeom prst="roundRect">
            <a:avLst>
              <a:gd name="adj" fmla="val 45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7" y="2414015"/>
            <a:ext cx="118872" cy="118872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0704" y="2340863"/>
            <a:ext cx="4660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spc="150">
                <a:solidFill>
                  <a:srgbClr val="2EE6A8"/>
                </a:solidFill>
                <a:latin typeface="Segoe UI"/>
              </a:rPr>
              <a:t>WORKING TODAY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704" y="2743200"/>
            <a:ext cx="466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Browser voice call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" y="2935224"/>
            <a:ext cx="466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E8EA8"/>
                </a:solidFill>
                <a:latin typeface="Segoe UI"/>
              </a:rPr>
              <a:t>full pipeline, ~4s per turn</a:t>
            </a:r>
          </a:p>
        </p:txBody>
      </p:sp>
      <p:sp>
        <p:nvSpPr>
          <p:cNvPr id="13" name="Oval 12"/>
          <p:cNvSpPr/>
          <p:nvPr/>
        </p:nvSpPr>
        <p:spPr>
          <a:xfrm>
            <a:off x="859536" y="2798064"/>
            <a:ext cx="73152" cy="73152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0704" y="3127248"/>
            <a:ext cx="466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WhatsApp auto-reply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" y="3319272"/>
            <a:ext cx="466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E8EA8"/>
                </a:solidFill>
                <a:latin typeface="Segoe UI"/>
              </a:rPr>
              <a:t>text and voice notes, survives restarts and dead sessions</a:t>
            </a:r>
          </a:p>
        </p:txBody>
      </p:sp>
      <p:sp>
        <p:nvSpPr>
          <p:cNvPr id="16" name="Oval 15"/>
          <p:cNvSpPr/>
          <p:nvPr/>
        </p:nvSpPr>
        <p:spPr>
          <a:xfrm>
            <a:off x="859536" y="3182112"/>
            <a:ext cx="73152" cy="73152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60704" y="3511296"/>
            <a:ext cx="466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Multiple agent personas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" y="3703320"/>
            <a:ext cx="466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E8EA8"/>
                </a:solidFill>
                <a:latin typeface="Segoe UI"/>
              </a:rPr>
              <a:t>a different agent per call or chat</a:t>
            </a:r>
          </a:p>
        </p:txBody>
      </p:sp>
      <p:sp>
        <p:nvSpPr>
          <p:cNvPr id="19" name="Oval 18"/>
          <p:cNvSpPr/>
          <p:nvPr/>
        </p:nvSpPr>
        <p:spPr>
          <a:xfrm>
            <a:off x="859536" y="3566160"/>
            <a:ext cx="73152" cy="73152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3895344"/>
            <a:ext cx="466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21 Indian voices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704" y="4087368"/>
            <a:ext cx="466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E8EA8"/>
                </a:solidFill>
                <a:latin typeface="Segoe UI"/>
              </a:rPr>
              <a:t>9 languages, free, no API key</a:t>
            </a:r>
          </a:p>
        </p:txBody>
      </p:sp>
      <p:sp>
        <p:nvSpPr>
          <p:cNvPr id="22" name="Oval 21"/>
          <p:cNvSpPr/>
          <p:nvPr/>
        </p:nvSpPr>
        <p:spPr>
          <a:xfrm>
            <a:off x="859536" y="3950207"/>
            <a:ext cx="73152" cy="73152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4279392"/>
            <a:ext cx="466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Contacts / CRM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704" y="4471416"/>
            <a:ext cx="466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E8EA8"/>
                </a:solidFill>
                <a:latin typeface="Segoe UI"/>
              </a:rPr>
              <a:t>calls and chats merged into one timeline</a:t>
            </a:r>
          </a:p>
        </p:txBody>
      </p:sp>
      <p:sp>
        <p:nvSpPr>
          <p:cNvPr id="25" name="Oval 24"/>
          <p:cNvSpPr/>
          <p:nvPr/>
        </p:nvSpPr>
        <p:spPr>
          <a:xfrm>
            <a:off x="859536" y="4334255"/>
            <a:ext cx="73152" cy="73152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704" y="4663440"/>
            <a:ext cx="466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Campaigns &amp; 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" y="4855464"/>
            <a:ext cx="466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E8EA8"/>
                </a:solidFill>
                <a:latin typeface="Segoe UI"/>
              </a:rPr>
              <a:t>bulk outbound list, volume and outcomes</a:t>
            </a:r>
          </a:p>
        </p:txBody>
      </p:sp>
      <p:sp>
        <p:nvSpPr>
          <p:cNvPr id="28" name="Oval 27"/>
          <p:cNvSpPr/>
          <p:nvPr/>
        </p:nvSpPr>
        <p:spPr>
          <a:xfrm>
            <a:off x="859536" y="4718303"/>
            <a:ext cx="73152" cy="73152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0704" y="5047488"/>
            <a:ext cx="466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21 automated tests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" y="5239512"/>
            <a:ext cx="466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E8EA8"/>
                </a:solidFill>
                <a:latin typeface="Segoe UI"/>
              </a:rPr>
              <a:t>language detection, rate limits, reply gating</a:t>
            </a:r>
          </a:p>
        </p:txBody>
      </p:sp>
      <p:sp>
        <p:nvSpPr>
          <p:cNvPr id="31" name="Oval 30"/>
          <p:cNvSpPr/>
          <p:nvPr/>
        </p:nvSpPr>
        <p:spPr>
          <a:xfrm>
            <a:off x="859536" y="5102351"/>
            <a:ext cx="73152" cy="73152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233007" y="2121408"/>
            <a:ext cx="5391759" cy="3310128"/>
          </a:xfrm>
          <a:prstGeom prst="roundRect">
            <a:avLst>
              <a:gd name="adj" fmla="val 45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507327" y="2414015"/>
            <a:ext cx="118872" cy="11887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6783" y="2340863"/>
            <a:ext cx="46602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spc="150">
                <a:solidFill>
                  <a:srgbClr val="FF8A3D"/>
                </a:solidFill>
                <a:latin typeface="Segoe UI"/>
              </a:rPr>
              <a:t>HONESTLY, NOT YET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6783" y="2743200"/>
            <a:ext cx="466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Live audio on phone calls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6783" y="2944368"/>
            <a:ext cx="46602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>
                <a:solidFill>
                  <a:srgbClr val="8E8EA8"/>
                </a:solidFill>
                <a:latin typeface="Segoe UI"/>
              </a:rPr>
              <a:t>Asterisk answers and logs the call today. Streaming the audio through the AI is 7–10 days of work, already planned and costed in the repo.</a:t>
            </a:r>
          </a:p>
        </p:txBody>
      </p:sp>
      <p:sp>
        <p:nvSpPr>
          <p:cNvPr id="37" name="Oval 36"/>
          <p:cNvSpPr/>
          <p:nvPr/>
        </p:nvSpPr>
        <p:spPr>
          <a:xfrm>
            <a:off x="6525615" y="2798064"/>
            <a:ext cx="73152" cy="7315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6783" y="3438144"/>
            <a:ext cx="466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Voice cloning — the owner's own voice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6783" y="3639312"/>
            <a:ext cx="46602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>
                <a:solidFill>
                  <a:srgbClr val="8E8EA8"/>
                </a:solidFill>
                <a:latin typeface="Segoe UI"/>
              </a:rPr>
              <a:t>The code path is written and tested. It needs a paid Cartesia plan; free neural voices are used instead.</a:t>
            </a:r>
          </a:p>
        </p:txBody>
      </p:sp>
      <p:sp>
        <p:nvSpPr>
          <p:cNvPr id="40" name="Oval 39"/>
          <p:cNvSpPr/>
          <p:nvPr/>
        </p:nvSpPr>
        <p:spPr>
          <a:xfrm>
            <a:off x="6525615" y="3493008"/>
            <a:ext cx="73152" cy="7315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6783" y="4133087"/>
            <a:ext cx="466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Barge-in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6783" y="4334255"/>
            <a:ext cx="46602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>
                <a:solidFill>
                  <a:srgbClr val="8E8EA8"/>
                </a:solidFill>
                <a:latin typeface="Segoe UI"/>
              </a:rPr>
              <a:t>The agent finishes its sentence before it listens again. Interrupting needs the streaming media loop.</a:t>
            </a:r>
          </a:p>
        </p:txBody>
      </p:sp>
      <p:sp>
        <p:nvSpPr>
          <p:cNvPr id="43" name="Oval 42"/>
          <p:cNvSpPr/>
          <p:nvPr/>
        </p:nvSpPr>
        <p:spPr>
          <a:xfrm>
            <a:off x="6525615" y="4187951"/>
            <a:ext cx="73152" cy="7315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6783" y="4828031"/>
            <a:ext cx="4660239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Dashboard login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6783" y="5029199"/>
            <a:ext cx="4660239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880" b="0">
                <a:solidFill>
                  <a:srgbClr val="8E8EA8"/>
                </a:solidFill>
                <a:latin typeface="Segoe UI"/>
              </a:rPr>
              <a:t>No auth on the API yet — fine on a shop's own machine, required before anything is exposed publicly.</a:t>
            </a:r>
          </a:p>
        </p:txBody>
      </p:sp>
      <p:sp>
        <p:nvSpPr>
          <p:cNvPr id="46" name="Oval 45"/>
          <p:cNvSpPr/>
          <p:nvPr/>
        </p:nvSpPr>
        <p:spPr>
          <a:xfrm>
            <a:off x="6525615" y="4882895"/>
            <a:ext cx="73152" cy="7315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5632704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2EE6A8"/>
                </a:solidFill>
                <a:latin typeface="Segoe UI"/>
              </a:rPr>
              <a:t>~7,600 lines across backend, dashboard and bridge  ·  45 API routes  ·  every figure in this deck came off a real run.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VoiceFlow AI  ·  Team Voice Flow  ·  HackMatrix 2026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27487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gradFill rotWithShape="1">
            <a:gsLst>
              <a:gs pos="0">
                <a:srgbClr val="16112C"/>
              </a:gs>
              <a:gs pos="100000">
                <a:srgbClr val="07070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90">
                <a:solidFill>
                  <a:srgbClr val="2EE6A8"/>
                </a:solidFill>
                <a:latin typeface="Segoe UI"/>
              </a:rPr>
              <a:t>FEASIBILITY +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DEDF2"/>
                </a:solidFill>
                <a:latin typeface="Segoe UI"/>
              </a:rPr>
              <a:t>It already runs. The only question left is reach.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243584"/>
            <a:ext cx="960120" cy="27432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66928" y="1517904"/>
            <a:ext cx="5391759" cy="3749039"/>
          </a:xfrm>
          <a:prstGeom prst="roundRect">
            <a:avLst>
              <a:gd name="adj" fmla="val 45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1773936"/>
            <a:ext cx="4769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spc="160">
                <a:solidFill>
                  <a:srgbClr val="A48BFF"/>
                </a:solidFill>
                <a:latin typeface="Segoe UI"/>
              </a:rPr>
              <a:t>FEASIBILITY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" y="2176272"/>
            <a:ext cx="4769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DEDF2"/>
                </a:solidFill>
                <a:latin typeface="Segoe UI"/>
              </a:rPr>
              <a:t>Technical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432304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Browser calls, WhatsApp auto-reply, multi-agent personas, CRM and analytics all run today. ~4s per conversational turn, measured. 21 automated tests cover language detection, reply gating and rate limits.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3236976"/>
            <a:ext cx="4769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DEDF2"/>
                </a:solidFill>
                <a:latin typeface="Segoe UI"/>
              </a:rPr>
              <a:t>Operational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493008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One ordinary laptop. No cloud bill, no card, no KYC. Free neural TTS, free-tier transcription and replies, and incoming calls are free in India.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4297680"/>
            <a:ext cx="4769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DEDF2"/>
                </a:solidFill>
                <a:latin typeface="Segoe UI"/>
              </a:rPr>
              <a:t>Risks, and what we did about them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4553712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WhatsApp Web is against WhatsApp's terms — the official Meta Cloud API is one setting away. Hosted models get retired — any OpenAI-compatible endpoint drops in.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517904"/>
            <a:ext cx="5391759" cy="3749039"/>
          </a:xfrm>
          <a:prstGeom prst="roundRect">
            <a:avLst>
              <a:gd name="adj" fmla="val 45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3903" y="1773936"/>
            <a:ext cx="476996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spc="160">
                <a:solidFill>
                  <a:srgbClr val="2EE6A8"/>
                </a:solidFill>
                <a:latin typeface="Segoe UI"/>
              </a:rPr>
              <a:t>IMPACT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3903" y="2176272"/>
            <a:ext cx="4769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DEDF2"/>
                </a:solidFill>
                <a:latin typeface="Segoe UI"/>
              </a:rPr>
              <a:t>Who benefits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3903" y="2432304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Clinics, salons, shops and coaching centres — anyone whose bookings arrive by phone and WhatsApp while the owner is busy serving somebody else.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3903" y="3236976"/>
            <a:ext cx="4769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DEDF2"/>
                </a:solidFill>
                <a:latin typeface="Segoe UI"/>
              </a:rPr>
              <a:t>What improves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903" y="3493008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Every call is answered instead of missed. WhatsApp replies land in seconds instead of hours. The owner reads the whole day's conversations in one dashboard instead of scrolling three apps.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3903" y="4297680"/>
            <a:ext cx="4769967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DEDF2"/>
                </a:solidFill>
                <a:latin typeface="Segoe UI"/>
              </a:rPr>
              <a:t>Why it matters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43903" y="4553712"/>
            <a:ext cx="4769967" cy="7863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A missed call is a customer who has already dialled somebody else. This gives a one-person business the reach of a staffed front desk — at ₹0 marginal cost per conversation, against ₹10–₹26 a minute elsewhere.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68112"/>
            <a:ext cx="2627299" cy="475488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468112"/>
            <a:ext cx="248099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Prototype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194227" y="557784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77107" y="5468112"/>
            <a:ext cx="2627299" cy="475488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50259" y="5468112"/>
            <a:ext cx="248099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MVP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04407" y="557784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7287" y="5468112"/>
            <a:ext cx="2627299" cy="475488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60439" y="5468112"/>
            <a:ext cx="248099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Pilot in Indore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14587" y="5577840"/>
            <a:ext cx="1828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7C5CFF"/>
                </a:solidFill>
                <a:latin typeface="Segoe UI"/>
              </a:rPr>
              <a:t>›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97467" y="5468112"/>
            <a:ext cx="2627299" cy="475488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70619" y="5468112"/>
            <a:ext cx="2480995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EDEDF2"/>
                </a:solidFill>
                <a:latin typeface="Segoe UI"/>
              </a:rPr>
              <a:t>Scale via resellers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66928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VoiceFlow AI  ·  Team Voice Flow  ·  HackMatrix 2026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27487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gradFill rotWithShape="1">
            <a:gsLst>
              <a:gs pos="0">
                <a:srgbClr val="16112C"/>
              </a:gs>
              <a:gs pos="100000">
                <a:srgbClr val="07070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90">
                <a:solidFill>
                  <a:srgbClr val="2EE6A8"/>
                </a:solidFill>
                <a:latin typeface="Segoe UI"/>
              </a:rPr>
              <a:t>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DEDF2"/>
                </a:solidFill>
                <a:latin typeface="Segoe UI"/>
              </a:rPr>
              <a:t>What happens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43584"/>
            <a:ext cx="8846271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50" b="0">
                <a:solidFill>
                  <a:srgbClr val="8E8EA8"/>
                </a:solidFill>
                <a:latin typeface="Segoe UI"/>
              </a:rPr>
              <a:t>The hard part — a working speech-to-reply loop in Indian languages — is done. What is left is plumbing and distribution.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847088"/>
            <a:ext cx="960120" cy="27432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2121408"/>
            <a:ext cx="2613583" cy="3401568"/>
          </a:xfrm>
          <a:prstGeom prst="roundRect">
            <a:avLst>
              <a:gd name="adj" fmla="val 5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2121408"/>
            <a:ext cx="2613583" cy="45720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95727"/>
            <a:ext cx="2101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spc="140">
                <a:solidFill>
                  <a:srgbClr val="2EE6A8"/>
                </a:solidFill>
                <a:latin typeface="Segoe UI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651760"/>
            <a:ext cx="2101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5A72"/>
                </a:solidFill>
                <a:latin typeface="Segoe UI"/>
              </a:rPr>
              <a:t>built and working</a:t>
            </a:r>
          </a:p>
        </p:txBody>
      </p:sp>
      <p:sp>
        <p:nvSpPr>
          <p:cNvPr id="12" name="Oval 11"/>
          <p:cNvSpPr/>
          <p:nvPr/>
        </p:nvSpPr>
        <p:spPr>
          <a:xfrm>
            <a:off x="841247" y="3081527"/>
            <a:ext cx="68580" cy="68580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" y="3017520"/>
            <a:ext cx="186377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Browser voice calls</a:t>
            </a:r>
          </a:p>
        </p:txBody>
      </p:sp>
      <p:sp>
        <p:nvSpPr>
          <p:cNvPr id="14" name="Oval 13"/>
          <p:cNvSpPr/>
          <p:nvPr/>
        </p:nvSpPr>
        <p:spPr>
          <a:xfrm>
            <a:off x="841247" y="3593591"/>
            <a:ext cx="68580" cy="68580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6" y="3529584"/>
            <a:ext cx="186377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WhatsApp auto-reply, text and voice</a:t>
            </a:r>
          </a:p>
        </p:txBody>
      </p:sp>
      <p:sp>
        <p:nvSpPr>
          <p:cNvPr id="16" name="Oval 15"/>
          <p:cNvSpPr/>
          <p:nvPr/>
        </p:nvSpPr>
        <p:spPr>
          <a:xfrm>
            <a:off x="841247" y="4105656"/>
            <a:ext cx="68580" cy="68580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6" y="4041648"/>
            <a:ext cx="186377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Multiple agent personas</a:t>
            </a:r>
          </a:p>
        </p:txBody>
      </p:sp>
      <p:sp>
        <p:nvSpPr>
          <p:cNvPr id="18" name="Oval 17"/>
          <p:cNvSpPr/>
          <p:nvPr/>
        </p:nvSpPr>
        <p:spPr>
          <a:xfrm>
            <a:off x="841247" y="4617720"/>
            <a:ext cx="68580" cy="68580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6" y="4553712"/>
            <a:ext cx="186377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Contacts, campaigns, analytics</a:t>
            </a:r>
          </a:p>
        </p:txBody>
      </p:sp>
      <p:sp>
        <p:nvSpPr>
          <p:cNvPr id="20" name="Oval 19"/>
          <p:cNvSpPr/>
          <p:nvPr/>
        </p:nvSpPr>
        <p:spPr>
          <a:xfrm>
            <a:off x="841247" y="5129784"/>
            <a:ext cx="68580" cy="68580"/>
          </a:xfrm>
          <a:prstGeom prst="ellipse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6" y="5065776"/>
            <a:ext cx="186377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21 voices across 9 languages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1679" y="2121408"/>
            <a:ext cx="2613583" cy="3401568"/>
          </a:xfrm>
          <a:prstGeom prst="roundRect">
            <a:avLst>
              <a:gd name="adj" fmla="val 5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81679" y="2121408"/>
            <a:ext cx="2613583" cy="45720"/>
          </a:xfrm>
          <a:prstGeom prst="rect">
            <a:avLst/>
          </a:prstGeom>
          <a:solidFill>
            <a:srgbClr val="A4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7711" y="2395727"/>
            <a:ext cx="2101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spc="140">
                <a:solidFill>
                  <a:srgbClr val="A48BFF"/>
                </a:solidFill>
                <a:latin typeface="Segoe UI"/>
              </a:rPr>
              <a:t>NEXT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37711" y="2651760"/>
            <a:ext cx="2101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5A72"/>
                </a:solidFill>
                <a:latin typeface="Segoe UI"/>
              </a:rPr>
              <a:t>2–6 weeks</a:t>
            </a:r>
          </a:p>
        </p:txBody>
      </p:sp>
      <p:sp>
        <p:nvSpPr>
          <p:cNvPr id="26" name="Oval 25"/>
          <p:cNvSpPr/>
          <p:nvPr/>
        </p:nvSpPr>
        <p:spPr>
          <a:xfrm>
            <a:off x="3655999" y="3081527"/>
            <a:ext cx="68580" cy="68580"/>
          </a:xfrm>
          <a:prstGeom prst="ellipse">
            <a:avLst/>
          </a:prstGeom>
          <a:solidFill>
            <a:srgbClr val="A4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57167" y="3017520"/>
            <a:ext cx="186377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Live audio on phone calls</a:t>
            </a:r>
          </a:p>
        </p:txBody>
      </p:sp>
      <p:sp>
        <p:nvSpPr>
          <p:cNvPr id="28" name="Oval 27"/>
          <p:cNvSpPr/>
          <p:nvPr/>
        </p:nvSpPr>
        <p:spPr>
          <a:xfrm>
            <a:off x="3655999" y="3593591"/>
            <a:ext cx="68580" cy="68580"/>
          </a:xfrm>
          <a:prstGeom prst="ellipse">
            <a:avLst/>
          </a:prstGeom>
          <a:solidFill>
            <a:srgbClr val="A4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57167" y="3529584"/>
            <a:ext cx="186377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Barge-in — interrupt the agent</a:t>
            </a:r>
          </a:p>
        </p:txBody>
      </p:sp>
      <p:sp>
        <p:nvSpPr>
          <p:cNvPr id="30" name="Oval 29"/>
          <p:cNvSpPr/>
          <p:nvPr/>
        </p:nvSpPr>
        <p:spPr>
          <a:xfrm>
            <a:off x="3655999" y="4105656"/>
            <a:ext cx="68580" cy="68580"/>
          </a:xfrm>
          <a:prstGeom prst="ellipse">
            <a:avLst/>
          </a:prstGeom>
          <a:solidFill>
            <a:srgbClr val="A4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57167" y="4041648"/>
            <a:ext cx="186377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Voice cloning: the owner's own voice</a:t>
            </a:r>
          </a:p>
        </p:txBody>
      </p:sp>
      <p:sp>
        <p:nvSpPr>
          <p:cNvPr id="32" name="Oval 31"/>
          <p:cNvSpPr/>
          <p:nvPr/>
        </p:nvSpPr>
        <p:spPr>
          <a:xfrm>
            <a:off x="3655999" y="4617720"/>
            <a:ext cx="68580" cy="68580"/>
          </a:xfrm>
          <a:prstGeom prst="ellipse">
            <a:avLst/>
          </a:prstGeom>
          <a:solidFill>
            <a:srgbClr val="A4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57167" y="4553712"/>
            <a:ext cx="186377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Token auth on the dashboard API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6431" y="2121408"/>
            <a:ext cx="2613583" cy="3401568"/>
          </a:xfrm>
          <a:prstGeom prst="roundRect">
            <a:avLst>
              <a:gd name="adj" fmla="val 5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96431" y="2121408"/>
            <a:ext cx="2613583" cy="4572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52463" y="2395727"/>
            <a:ext cx="2101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spc="140">
                <a:solidFill>
                  <a:srgbClr val="7C5CFF"/>
                </a:solidFill>
                <a:latin typeface="Segoe UI"/>
              </a:rPr>
              <a:t>LATER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52463" y="2651760"/>
            <a:ext cx="2101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5A72"/>
                </a:solidFill>
                <a:latin typeface="Segoe UI"/>
              </a:rPr>
              <a:t>the quarter after</a:t>
            </a:r>
          </a:p>
        </p:txBody>
      </p:sp>
      <p:sp>
        <p:nvSpPr>
          <p:cNvPr id="38" name="Oval 37"/>
          <p:cNvSpPr/>
          <p:nvPr/>
        </p:nvSpPr>
        <p:spPr>
          <a:xfrm>
            <a:off x="6470751" y="3081527"/>
            <a:ext cx="68580" cy="685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71919" y="3017520"/>
            <a:ext cx="186377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Paid pilot with shops in Indore</a:t>
            </a:r>
          </a:p>
        </p:txBody>
      </p:sp>
      <p:sp>
        <p:nvSpPr>
          <p:cNvPr id="40" name="Oval 39"/>
          <p:cNvSpPr/>
          <p:nvPr/>
        </p:nvSpPr>
        <p:spPr>
          <a:xfrm>
            <a:off x="6470751" y="3593591"/>
            <a:ext cx="68580" cy="685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71919" y="3529584"/>
            <a:ext cx="186377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Appointment calendar integration</a:t>
            </a:r>
          </a:p>
        </p:txBody>
      </p:sp>
      <p:sp>
        <p:nvSpPr>
          <p:cNvPr id="42" name="Oval 41"/>
          <p:cNvSpPr/>
          <p:nvPr/>
        </p:nvSpPr>
        <p:spPr>
          <a:xfrm>
            <a:off x="6470751" y="4105656"/>
            <a:ext cx="68580" cy="685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71919" y="4041648"/>
            <a:ext cx="186377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Roles and multi-user login</a:t>
            </a:r>
          </a:p>
        </p:txBody>
      </p:sp>
      <p:sp>
        <p:nvSpPr>
          <p:cNvPr id="44" name="Oval 43"/>
          <p:cNvSpPr/>
          <p:nvPr/>
        </p:nvSpPr>
        <p:spPr>
          <a:xfrm>
            <a:off x="6470751" y="4617720"/>
            <a:ext cx="68580" cy="68580"/>
          </a:xfrm>
          <a:prstGeom prst="ellipse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71919" y="4553712"/>
            <a:ext cx="186377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Hosted option for non-technical owners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011183" y="2121408"/>
            <a:ext cx="2613583" cy="3401568"/>
          </a:xfrm>
          <a:prstGeom prst="roundRect">
            <a:avLst>
              <a:gd name="adj" fmla="val 5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011183" y="2121408"/>
            <a:ext cx="2613583" cy="45720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67215" y="2395727"/>
            <a:ext cx="210151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spc="140">
                <a:solidFill>
                  <a:srgbClr val="FF8A3D"/>
                </a:solidFill>
                <a:latin typeface="Segoe UI"/>
              </a:rPr>
              <a:t>SCALE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67215" y="2651760"/>
            <a:ext cx="210151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5A72"/>
                </a:solidFill>
                <a:latin typeface="Segoe UI"/>
              </a:rPr>
              <a:t>the year</a:t>
            </a:r>
          </a:p>
        </p:txBody>
      </p:sp>
      <p:sp>
        <p:nvSpPr>
          <p:cNvPr id="50" name="Oval 49"/>
          <p:cNvSpPr/>
          <p:nvPr/>
        </p:nvSpPr>
        <p:spPr>
          <a:xfrm>
            <a:off x="9285503" y="3081527"/>
            <a:ext cx="68580" cy="685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486671" y="3017520"/>
            <a:ext cx="186377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More Indian languages</a:t>
            </a:r>
          </a:p>
        </p:txBody>
      </p:sp>
      <p:sp>
        <p:nvSpPr>
          <p:cNvPr id="52" name="Oval 51"/>
          <p:cNvSpPr/>
          <p:nvPr/>
        </p:nvSpPr>
        <p:spPr>
          <a:xfrm>
            <a:off x="9285503" y="3593591"/>
            <a:ext cx="68580" cy="685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86671" y="3529584"/>
            <a:ext cx="186377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Multiple businesses per install</a:t>
            </a:r>
          </a:p>
        </p:txBody>
      </p:sp>
      <p:sp>
        <p:nvSpPr>
          <p:cNvPr id="54" name="Oval 53"/>
          <p:cNvSpPr/>
          <p:nvPr/>
        </p:nvSpPr>
        <p:spPr>
          <a:xfrm>
            <a:off x="9285503" y="4105656"/>
            <a:ext cx="68580" cy="685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486671" y="4041648"/>
            <a:ext cx="186377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Payments and order taking</a:t>
            </a:r>
          </a:p>
        </p:txBody>
      </p:sp>
      <p:sp>
        <p:nvSpPr>
          <p:cNvPr id="56" name="Oval 55"/>
          <p:cNvSpPr/>
          <p:nvPr/>
        </p:nvSpPr>
        <p:spPr>
          <a:xfrm>
            <a:off x="9285503" y="4617720"/>
            <a:ext cx="68580" cy="6858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486671" y="4553712"/>
            <a:ext cx="1863775" cy="4754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Reseller model for local IT shops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" y="5724144"/>
            <a:ext cx="11057839" cy="566928"/>
          </a:xfrm>
          <a:prstGeom prst="roundRect">
            <a:avLst>
              <a:gd name="adj" fmla="val 10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66928" y="5843016"/>
            <a:ext cx="41148" cy="32918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77824" y="5724144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000" b="0">
                <a:solidFill>
                  <a:srgbClr val="8E8EA8"/>
                </a:solidFill>
                <a:latin typeface="Segoe UI"/>
              </a:rPr>
              <a:t>Phone-call audio is marked in progress on purpose. Asterisk answers and logs the call today; streaming that audio through the AI is the one piece we have not finished — and it is planned, costed and in the repo.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66928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VoiceFlow AI  ·  Team Voice Flow  ·  HackMatrix 2026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27487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7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377440"/>
          </a:xfrm>
          <a:prstGeom prst="rect">
            <a:avLst/>
          </a:prstGeom>
          <a:gradFill rotWithShape="1">
            <a:gsLst>
              <a:gs pos="0">
                <a:srgbClr val="16112C"/>
              </a:gs>
              <a:gs pos="100000">
                <a:srgbClr val="07070C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7C5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02336"/>
            <a:ext cx="11057839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spc="190">
                <a:solidFill>
                  <a:srgbClr val="2EE6A8"/>
                </a:solidFill>
                <a:latin typeface="Segoe UI"/>
              </a:rPr>
              <a:t>TEAM +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EDEDF2"/>
                </a:solidFill>
                <a:latin typeface="Segoe UI"/>
              </a:rPr>
              <a:t>Team Voice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243584"/>
            <a:ext cx="960120" cy="27432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5391759" cy="1572768"/>
          </a:xfrm>
          <a:prstGeom prst="roundRect">
            <a:avLst>
              <a:gd name="adj" fmla="val 6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792224"/>
            <a:ext cx="41148" cy="1024128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773936"/>
            <a:ext cx="476996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DEDF2"/>
                </a:solidFill>
                <a:latin typeface="Segoe UI"/>
              </a:rPr>
              <a:t>Abhinav Cheepa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103120"/>
            <a:ext cx="4769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20">
                <a:solidFill>
                  <a:srgbClr val="2EE6A8"/>
                </a:solidFill>
                <a:latin typeface="Segoe UI"/>
              </a:rPr>
              <a:t>Team Leader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359152"/>
            <a:ext cx="476996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>
                <a:solidFill>
                  <a:srgbClr val="8E8EA8"/>
                </a:solidFill>
                <a:latin typeface="Segoe UI"/>
              </a:rPr>
              <a:t>Backend, the AI pipeline, WhatsApp reliability and telephony integration.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779776"/>
            <a:ext cx="4769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A5A72"/>
                </a:solidFill>
                <a:latin typeface="Segoe UI"/>
              </a:rPr>
              <a:t>abhinavcheepa7@gmail.com  ·  +91 70007 59702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3007" y="1517904"/>
            <a:ext cx="5391759" cy="1572768"/>
          </a:xfrm>
          <a:prstGeom prst="roundRect">
            <a:avLst>
              <a:gd name="adj" fmla="val 60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33007" y="1792224"/>
            <a:ext cx="41148" cy="1024128"/>
          </a:xfrm>
          <a:prstGeom prst="rect">
            <a:avLst/>
          </a:prstGeom>
          <a:solidFill>
            <a:srgbClr val="A4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3903" y="1773936"/>
            <a:ext cx="476996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EDEDF2"/>
                </a:solidFill>
                <a:latin typeface="Segoe UI"/>
              </a:rPr>
              <a:t>Raghav Goyal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3903" y="2103120"/>
            <a:ext cx="476996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 spc="120">
                <a:solidFill>
                  <a:srgbClr val="A48BFF"/>
                </a:solidFill>
                <a:latin typeface="Segoe UI"/>
              </a:rPr>
              <a:t>Frontend &amp; QA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3903" y="2359152"/>
            <a:ext cx="4769967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80" b="0">
                <a:solidFill>
                  <a:srgbClr val="8E8EA8"/>
                </a:solidFill>
                <a:latin typeface="Segoe UI"/>
              </a:rPr>
              <a:t>React dashboard, Voice Studio, the web-call client, testing and QA.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218688"/>
            <a:ext cx="11057839" cy="1207008"/>
          </a:xfrm>
          <a:prstGeom prst="roundRect">
            <a:avLst>
              <a:gd name="adj" fmla="val 5000"/>
            </a:avLst>
          </a:prstGeom>
          <a:solidFill>
            <a:srgbClr val="161623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456432"/>
            <a:ext cx="41148" cy="731520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3438144"/>
            <a:ext cx="104177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EDEDF2"/>
                </a:solidFill>
                <a:latin typeface="Segoe UI"/>
              </a:rPr>
              <a:t>Why this team can execute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3767328"/>
            <a:ext cx="1041775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8E8EA8"/>
                </a:solidFill>
                <a:latin typeface="Segoe UI"/>
              </a:rPr>
              <a:t>We have already built and measured the hard part — a working speech-to-reply loop in Indian languages, running on a laptop for ₹0 — instead of describing one. What remains is telephony plumbing, and the plan for it is written, costed and sitting in the repository.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535424"/>
            <a:ext cx="3551834" cy="1152144"/>
          </a:xfrm>
          <a:prstGeom prst="roundRect">
            <a:avLst>
              <a:gd name="adj" fmla="val 55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7842" y="4809744"/>
            <a:ext cx="41148" cy="603504"/>
          </a:xfrm>
          <a:prstGeom prst="rect">
            <a:avLst/>
          </a:prstGeom>
          <a:solidFill>
            <a:srgbClr val="A48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7824" y="4773168"/>
            <a:ext cx="29849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DEDF2"/>
                </a:solidFill>
                <a:latin typeface="Segoe UI"/>
              </a:rPr>
              <a:t>What we want from this round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" y="5084064"/>
            <a:ext cx="298490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Feedback on the pilot plan, and an introduction to shops willing to run it for a month.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9930" y="4535424"/>
            <a:ext cx="3551834" cy="1152144"/>
          </a:xfrm>
          <a:prstGeom prst="roundRect">
            <a:avLst>
              <a:gd name="adj" fmla="val 55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0844" y="4809744"/>
            <a:ext cx="41148" cy="603504"/>
          </a:xfrm>
          <a:prstGeom prst="rect">
            <a:avLst/>
          </a:prstGeom>
          <a:solidFill>
            <a:srgbClr val="2EE6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0826" y="4773168"/>
            <a:ext cx="29849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DEDF2"/>
                </a:solidFill>
                <a:latin typeface="Segoe UI"/>
              </a:rPr>
              <a:t>What we will demo live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0826" y="5084064"/>
            <a:ext cx="298490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A real Hindi conversation through the browser, and a WhatsApp message answered on its own.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72932" y="4535424"/>
            <a:ext cx="3551834" cy="1152144"/>
          </a:xfrm>
          <a:prstGeom prst="roundRect">
            <a:avLst>
              <a:gd name="adj" fmla="val 5500"/>
            </a:avLst>
          </a:prstGeom>
          <a:solidFill>
            <a:srgbClr val="101019"/>
          </a:solidFill>
          <a:ln w="12700">
            <a:solidFill>
              <a:srgbClr val="2424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73847" y="4809744"/>
            <a:ext cx="41148" cy="603504"/>
          </a:xfrm>
          <a:prstGeom prst="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83828" y="4773168"/>
            <a:ext cx="298490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EDEDF2"/>
                </a:solidFill>
                <a:latin typeface="Segoe UI"/>
              </a:rPr>
              <a:t>Where the code 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83828" y="5084064"/>
            <a:ext cx="298490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950" b="0">
                <a:solidFill>
                  <a:srgbClr val="8E8EA8"/>
                </a:solidFill>
                <a:latin typeface="Segoe UI"/>
              </a:rPr>
              <a:t>github.com/abhinavcheepa/voiceflow-hackmatrix
Every claim in this deck is reproducible from it.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053328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EDEDF2"/>
                </a:solidFill>
                <a:latin typeface="Segoe UI"/>
              </a:rPr>
              <a:t>VoiceFlow AI — your voice, your accent, answering every customer.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55664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VoiceFlow AI  ·  Team Voice Flow  ·  HackMatrix 2026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27487" y="64556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A5A72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